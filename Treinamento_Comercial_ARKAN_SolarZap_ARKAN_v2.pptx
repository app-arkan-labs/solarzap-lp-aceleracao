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7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31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KAN_MASTER">
    <p:bg>
      <p:bgPr>
        <a:solidFill>
          <a:srgbClr val="0F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2742"/>
          </a:solidFill>
          <a:ln w="12700">
            <a:solidFill>
              <a:srgbClr val="1A27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8138160" cy="54864"/>
          </a:xfrm>
          <a:prstGeom prst="rect">
            <a:avLst/>
          </a:prstGeom>
          <a:solidFill>
            <a:srgbClr val="F5A23A"/>
          </a:solidFill>
          <a:ln w="12700">
            <a:solidFill>
              <a:srgbClr val="F5A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6711696"/>
            <a:ext cx="4053535" cy="54864"/>
          </a:xfrm>
          <a:prstGeom prst="rect">
            <a:avLst/>
          </a:prstGeom>
          <a:solidFill>
            <a:srgbClr val="5A89D8"/>
          </a:solidFill>
          <a:ln w="12700">
            <a:solidFill>
              <a:srgbClr val="5A89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01168"/>
            <a:ext cx="3794760" cy="6172200"/>
          </a:xfrm>
          <a:prstGeom prst="rect">
            <a:avLst/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915400" y="914400"/>
            <a:ext cx="2057400" cy="2057400"/>
          </a:xfrm>
          <a:prstGeom prst="ellipse">
            <a:avLst/>
          </a:prstGeom>
          <a:solidFill>
            <a:srgbClr val="F85627">
              <a:alpha val="18000"/>
            </a:srgbClr>
          </a:solidFill>
          <a:ln w="12700">
            <a:solidFill>
              <a:srgbClr val="F856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464040" y="3017520"/>
            <a:ext cx="1600200" cy="1600200"/>
          </a:xfrm>
          <a:prstGeom prst="ellipse">
            <a:avLst/>
          </a:prstGeom>
          <a:solidFill>
            <a:srgbClr val="4E78AE">
              <a:alpha val="18000"/>
            </a:srgbClr>
          </a:solidFill>
          <a:ln w="12700">
            <a:solidFill>
              <a:srgbClr val="4E78A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39496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Treinamento Comercial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SolarZap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50292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A7B2C9"/>
                </a:solidFill>
              </a:rPr>
              <a:t>Processo comercial definitivo da ARKAN para energia solar - da entrada do lead </a:t>
            </a:r>
            <a:r>
              <a:rPr lang="en-US" sz="1750" dirty="0" err="1">
                <a:solidFill>
                  <a:srgbClr val="A7B2C9"/>
                </a:solidFill>
              </a:rPr>
              <a:t>até</a:t>
            </a:r>
            <a:r>
              <a:rPr lang="en-US" sz="1750" dirty="0">
                <a:solidFill>
                  <a:srgbClr val="A7B2C9"/>
                </a:solidFill>
              </a:rPr>
              <a:t> Projeto Pago e </a:t>
            </a:r>
            <a:r>
              <a:rPr lang="en-US" sz="1750" dirty="0" err="1">
                <a:solidFill>
                  <a:srgbClr val="A7B2C9"/>
                </a:solidFill>
              </a:rPr>
              <a:t>Coletar</a:t>
            </a:r>
            <a:r>
              <a:rPr lang="en-US" sz="1750" dirty="0">
                <a:solidFill>
                  <a:srgbClr val="A7B2C9"/>
                </a:solidFill>
              </a:rPr>
              <a:t> </a:t>
            </a:r>
            <a:r>
              <a:rPr lang="en-US" sz="1750" dirty="0" err="1">
                <a:solidFill>
                  <a:srgbClr val="A7B2C9"/>
                </a:solidFill>
              </a:rPr>
              <a:t>Avaliação</a:t>
            </a:r>
            <a:r>
              <a:rPr lang="en-US" sz="1750" dirty="0">
                <a:solidFill>
                  <a:srgbClr val="A7B2C9"/>
                </a:solidFill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9808" y="3794760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49808" y="3822192"/>
            <a:ext cx="1481328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6FA"/>
                </a:solidFill>
              </a:rPr>
              <a:t>Fluxo operacional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379476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331720" y="3822192"/>
            <a:ext cx="11430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6FA"/>
                </a:solidFill>
              </a:rPr>
              <a:t>Automacoes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84448" y="379476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84448" y="3822192"/>
            <a:ext cx="107899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F6FA"/>
                </a:solidFill>
              </a:rPr>
              <a:t>Agentes de 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466344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4983480"/>
            <a:ext cx="45720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6FA"/>
                </a:solidFill>
              </a:rPr>
              <a:t>O modulo mostra o passo a passo no CRM, os gatilhos de cada etapa e o papel do vendedor em cada decisao.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4709160"/>
            <a:ext cx="26974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F6FA"/>
                </a:solidFill>
              </a:rPr>
              <a:t>ARKAN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641080" y="5230368"/>
            <a:ext cx="283464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B2C9"/>
                </a:solidFill>
              </a:rPr>
              <a:t>Treinamento interno de vendas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366760" y="713232"/>
            <a:ext cx="3383280" cy="4160520"/>
          </a:xfrm>
          <a:prstGeom prst="rect">
            <a:avLst/>
          </a:prstGeom>
          <a:solidFill>
            <a:srgbClr val="0D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ark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868680"/>
            <a:ext cx="3246120" cy="3246120"/>
          </a:xfrm>
          <a:prstGeom prst="rect">
            <a:avLst/>
          </a:prstGeom>
        </p:spPr>
      </p:pic>
      <p:pic>
        <p:nvPicPr>
          <p:cNvPr id="28" name="Picture 27" descr="arkan_logo_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4800600"/>
            <a:ext cx="2011680" cy="53035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522208" y="4590288"/>
            <a:ext cx="2971800" cy="822960"/>
          </a:xfrm>
          <a:prstGeom prst="rect">
            <a:avLst/>
          </a:prstGeom>
          <a:solidFill>
            <a:srgbClr val="0D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32520" y="5230368"/>
            <a:ext cx="2560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7B2C9"/>
                </a:solidFill>
                <a:latin typeface="Aptos"/>
              </a:rPr>
              <a:t>Treinamento interno de vendas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vendedor precisa dominar o processo, operar o SolarZap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fricçao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acelerar o lead para a proxima etapa correta.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074920"/>
          </a:xfrm>
          <a:prstGeom prst="roundRect">
            <a:avLst>
              <a:gd name="adj" fmla="val 2162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627632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33272" y="179222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33272" y="182422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72184" y="1764792"/>
            <a:ext cx="2514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Executar o fluxo comercial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72184" y="2011680"/>
            <a:ext cx="2514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Conduzir o lead do primeiro </a:t>
            </a:r>
            <a:r>
              <a:rPr lang="en-US" sz="1150" dirty="0" err="1">
                <a:solidFill>
                  <a:srgbClr val="A7B2C9"/>
                </a:solidFill>
              </a:rPr>
              <a:t>contato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até</a:t>
            </a:r>
            <a:r>
              <a:rPr lang="en-US" sz="1150" dirty="0">
                <a:solidFill>
                  <a:srgbClr val="A7B2C9"/>
                </a:solidFill>
              </a:rPr>
              <a:t> o fechamento, respeitando os criterios de </a:t>
            </a:r>
            <a:r>
              <a:rPr lang="en-US" sz="1150" dirty="0" err="1">
                <a:solidFill>
                  <a:srgbClr val="A7B2C9"/>
                </a:solidFill>
              </a:rPr>
              <a:t>mudança</a:t>
            </a:r>
            <a:r>
              <a:rPr lang="en-US" sz="1150" dirty="0">
                <a:solidFill>
                  <a:srgbClr val="A7B2C9"/>
                </a:solidFill>
              </a:rPr>
              <a:t> de etapa e o papel de </a:t>
            </a:r>
            <a:r>
              <a:rPr lang="en-US" sz="1150" dirty="0" err="1">
                <a:solidFill>
                  <a:srgbClr val="A7B2C9"/>
                </a:solidFill>
              </a:rPr>
              <a:t>cada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responsável</a:t>
            </a:r>
            <a:r>
              <a:rPr lang="en-US" sz="1150" dirty="0">
                <a:solidFill>
                  <a:srgbClr val="A7B2C9"/>
                </a:solidFill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27632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99432" y="179222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99432" y="182422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38344" y="1764792"/>
            <a:ext cx="2514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Usar o CRM como sistema operacional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38344" y="2011680"/>
            <a:ext cx="2514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Registrar </a:t>
            </a:r>
            <a:r>
              <a:rPr lang="en-US" sz="1150" dirty="0" err="1">
                <a:solidFill>
                  <a:srgbClr val="A7B2C9"/>
                </a:solidFill>
              </a:rPr>
              <a:t>ligações</a:t>
            </a:r>
            <a:r>
              <a:rPr lang="en-US" sz="1150" dirty="0">
                <a:solidFill>
                  <a:srgbClr val="A7B2C9"/>
                </a:solidFill>
              </a:rPr>
              <a:t>, gerar propostas, agendar visitas, registrar resultado da visita e manter o pipeline sempre atualizado.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0" y="1627632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165592" y="179222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65592" y="182422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1764792"/>
            <a:ext cx="196596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F4F6FA"/>
                </a:solidFill>
              </a:rPr>
              <a:t>Aproveitar</a:t>
            </a:r>
            <a:r>
              <a:rPr lang="en-US" sz="1550" b="1" dirty="0">
                <a:solidFill>
                  <a:srgbClr val="F4F6FA"/>
                </a:solidFill>
              </a:rPr>
              <a:t> </a:t>
            </a:r>
            <a:r>
              <a:rPr lang="en-US" sz="1550" b="1" dirty="0" err="1">
                <a:solidFill>
                  <a:srgbClr val="F4F6FA"/>
                </a:solidFill>
              </a:rPr>
              <a:t>automações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04504" y="2011680"/>
            <a:ext cx="196596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Seguir os modais e gatilhos do SolarZap para </a:t>
            </a:r>
            <a:r>
              <a:rPr lang="en-US" sz="1150" dirty="0" err="1">
                <a:solidFill>
                  <a:srgbClr val="A7B2C9"/>
                </a:solidFill>
              </a:rPr>
              <a:t>não</a:t>
            </a:r>
            <a:r>
              <a:rPr lang="en-US" sz="1150" dirty="0">
                <a:solidFill>
                  <a:srgbClr val="A7B2C9"/>
                </a:solidFill>
              </a:rPr>
              <a:t> perder contexto nem atrasar o </a:t>
            </a:r>
            <a:r>
              <a:rPr lang="en-US" sz="1150" dirty="0" err="1">
                <a:solidFill>
                  <a:srgbClr val="A7B2C9"/>
                </a:solidFill>
              </a:rPr>
              <a:t>próximo</a:t>
            </a:r>
            <a:r>
              <a:rPr lang="en-US" sz="1150" dirty="0">
                <a:solidFill>
                  <a:srgbClr val="A7B2C9"/>
                </a:solidFill>
              </a:rPr>
              <a:t> passo.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324612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33272" y="341071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33272" y="344271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72184" y="3383280"/>
            <a:ext cx="2514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Operar com apoio da IA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472184" y="3630168"/>
            <a:ext cx="2514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Usar os agentes para qualificar, recuperar no-show e reengajar leads sem terceirizar a estrategia comercial.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24612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99432" y="341071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99432" y="344271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38344" y="3383280"/>
            <a:ext cx="2514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Negociar e </a:t>
            </a:r>
            <a:r>
              <a:rPr lang="en-US" sz="1550" b="1" dirty="0" err="1">
                <a:solidFill>
                  <a:srgbClr val="F4F6FA"/>
                </a:solidFill>
              </a:rPr>
              <a:t>destravar</a:t>
            </a:r>
            <a:r>
              <a:rPr lang="en-US" sz="1550" b="1" dirty="0">
                <a:solidFill>
                  <a:srgbClr val="F4F6FA"/>
                </a:solidFill>
              </a:rPr>
              <a:t> </a:t>
            </a:r>
            <a:r>
              <a:rPr lang="en-US" sz="1550" b="1" dirty="0" err="1">
                <a:solidFill>
                  <a:srgbClr val="F4F6FA"/>
                </a:solidFill>
              </a:rPr>
              <a:t>financiamento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038344" y="3630168"/>
            <a:ext cx="2514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Quebrar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objeções</a:t>
            </a:r>
            <a:r>
              <a:rPr lang="en-US" sz="1150" dirty="0">
                <a:solidFill>
                  <a:srgbClr val="A7B2C9"/>
                </a:solidFill>
              </a:rPr>
              <a:t>, </a:t>
            </a:r>
            <a:r>
              <a:rPr lang="en-US" sz="1150" dirty="0" err="1">
                <a:solidFill>
                  <a:srgbClr val="A7B2C9"/>
                </a:solidFill>
              </a:rPr>
              <a:t>puxar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decisão</a:t>
            </a:r>
            <a:r>
              <a:rPr lang="en-US" sz="1150" dirty="0">
                <a:solidFill>
                  <a:srgbClr val="A7B2C9"/>
                </a:solidFill>
              </a:rPr>
              <a:t>, </a:t>
            </a:r>
            <a:r>
              <a:rPr lang="en-US" sz="1150" dirty="0" err="1">
                <a:solidFill>
                  <a:srgbClr val="A7B2C9"/>
                </a:solidFill>
              </a:rPr>
              <a:t>conduzir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documentação</a:t>
            </a:r>
            <a:r>
              <a:rPr lang="en-US" sz="1150" dirty="0">
                <a:solidFill>
                  <a:srgbClr val="A7B2C9"/>
                </a:solidFill>
              </a:rPr>
              <a:t> e nunca deixar o cliente sozinho no processo.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324612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65592" y="341071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65592" y="344271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04504" y="3383280"/>
            <a:ext cx="196596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Fechar com disciplina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604504" y="3630168"/>
            <a:ext cx="196596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Levar para contrato, pagamento, margem de lucro e coleta de </a:t>
            </a:r>
            <a:r>
              <a:rPr lang="en-US" sz="1150" dirty="0" err="1">
                <a:solidFill>
                  <a:srgbClr val="A7B2C9"/>
                </a:solidFill>
              </a:rPr>
              <a:t>avaliação</a:t>
            </a:r>
            <a:r>
              <a:rPr lang="en-US" sz="1150" dirty="0">
                <a:solidFill>
                  <a:srgbClr val="A7B2C9"/>
                </a:solidFill>
              </a:rPr>
              <a:t> com dados completos no CRM.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" y="4983480"/>
            <a:ext cx="9875520" cy="841248"/>
          </a:xfrm>
          <a:prstGeom prst="roundRect">
            <a:avLst>
              <a:gd name="adj" fmla="val 13043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097280" y="5257800"/>
            <a:ext cx="93726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F4F6FA"/>
                </a:solidFill>
              </a:rPr>
              <a:t>Resultado esperado: qualquer vendedor treinado consegue reproduzir a </a:t>
            </a:r>
            <a:r>
              <a:rPr lang="en-US" sz="1620" b="1" dirty="0" err="1">
                <a:solidFill>
                  <a:srgbClr val="F4F6FA"/>
                </a:solidFill>
              </a:rPr>
              <a:t>operação</a:t>
            </a:r>
            <a:r>
              <a:rPr lang="en-US" sz="1620" b="1" dirty="0">
                <a:solidFill>
                  <a:srgbClr val="F4F6FA"/>
                </a:solidFill>
              </a:rPr>
              <a:t> da ARKAN com </a:t>
            </a:r>
            <a:r>
              <a:rPr lang="en-US" sz="1620" b="1" dirty="0" err="1">
                <a:solidFill>
                  <a:srgbClr val="F4F6FA"/>
                </a:solidFill>
              </a:rPr>
              <a:t>padrão</a:t>
            </a:r>
            <a:r>
              <a:rPr lang="en-US" sz="1620" b="1" dirty="0">
                <a:solidFill>
                  <a:srgbClr val="F4F6FA"/>
                </a:solidFill>
              </a:rPr>
              <a:t>, velocidade e rastreabilidade.</a:t>
            </a:r>
            <a:endParaRPr lang="en-US" sz="16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7" name="Picture 36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comercial completo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macro do processo atual: da entrada do lead ate a coleta de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90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pagamento.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15568" y="2359152"/>
            <a:ext cx="1001268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" y="4773168"/>
            <a:ext cx="1001268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Novo Lead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338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338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585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3317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Respondeu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340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340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587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319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Chamada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Agendada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342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589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321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Chamada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Realizada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344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344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591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Aguardando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Proposta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34656" y="1499616"/>
            <a:ext cx="310896" cy="310896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5346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593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7325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Proposta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Pronta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348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1348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25956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332720" y="2093976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Visita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Agendada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735056" y="1499616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735056" y="1572768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7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83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Visita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Realizada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1338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1338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585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3317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Proposta em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Negociacao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340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340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587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9319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Financiamento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3342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3342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589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5321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Aprovou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Projeto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9344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9344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591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71323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Contrato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Assinado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5346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5346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12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6593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7325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Projeto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Pago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134856" y="3913632"/>
            <a:ext cx="310896" cy="310896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91348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13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259568" y="4288536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D2C4B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0332720" y="4507992"/>
            <a:ext cx="1179576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Coletar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 err="1">
                <a:solidFill>
                  <a:srgbClr val="F4F6FA"/>
                </a:solidFill>
              </a:rPr>
              <a:t>Avaliação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10735056" y="3913632"/>
            <a:ext cx="310896" cy="310896"/>
          </a:xfrm>
          <a:prstGeom prst="ellipse">
            <a:avLst/>
          </a:prstGeom>
          <a:solidFill>
            <a:srgbClr val="6FD38F"/>
          </a:solidFill>
          <a:ln w="12700">
            <a:solidFill>
              <a:srgbClr val="6FD3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10735056" y="3986784"/>
            <a:ext cx="310896" cy="91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23C"/>
                </a:solidFill>
              </a:rPr>
              <a:t>14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86384" y="5486400"/>
            <a:ext cx="10972800" cy="658368"/>
          </a:xfrm>
          <a:prstGeom prst="roundRect">
            <a:avLst>
              <a:gd name="adj" fmla="val 16667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1005840" y="5715000"/>
            <a:ext cx="10515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60" dirty="0">
                <a:solidFill>
                  <a:srgbClr val="F4F6FA"/>
                </a:solidFill>
              </a:rPr>
              <a:t>Se o lead </a:t>
            </a:r>
            <a:r>
              <a:rPr lang="en-US" sz="1460" dirty="0" err="1">
                <a:solidFill>
                  <a:srgbClr val="F4F6FA"/>
                </a:solidFill>
              </a:rPr>
              <a:t>não</a:t>
            </a:r>
            <a:r>
              <a:rPr lang="en-US" sz="1460" dirty="0">
                <a:solidFill>
                  <a:srgbClr val="F4F6FA"/>
                </a:solidFill>
              </a:rPr>
              <a:t> comparecer a chamada, entra o fluxo de </a:t>
            </a:r>
            <a:r>
              <a:rPr lang="en-US" sz="1460" dirty="0" err="1">
                <a:solidFill>
                  <a:srgbClr val="F4F6FA"/>
                </a:solidFill>
              </a:rPr>
              <a:t>recuperação</a:t>
            </a:r>
            <a:r>
              <a:rPr lang="en-US" sz="1460" dirty="0">
                <a:solidFill>
                  <a:srgbClr val="F4F6FA"/>
                </a:solidFill>
              </a:rPr>
              <a:t> para reagendar call ou puxar BANT por mensagem e agendar visita.</a:t>
            </a:r>
            <a:endParaRPr lang="en-US" sz="146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64" name="Picture 63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Quem faz o que em cada etapa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SolarZap automatiza o deslocamento operacional; o vendedor continua dono da estrategia, da conversa critica e do fechamento.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5394960"/>
          </a:xfrm>
          <a:prstGeom prst="roundRect">
            <a:avLst>
              <a:gd name="adj" fmla="val 2034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23544" y="1755648"/>
            <a:ext cx="2450592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23C"/>
                </a:solidFill>
              </a:rPr>
              <a:t>Etapa / momento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1645920"/>
            <a:ext cx="2697480" cy="384048"/>
          </a:xfrm>
          <a:prstGeom prst="roundRect">
            <a:avLst>
              <a:gd name="adj" fmla="val 14286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758184" y="1755648"/>
            <a:ext cx="2587752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Vendedor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01968" y="1645920"/>
            <a:ext cx="2514600" cy="384048"/>
          </a:xfrm>
          <a:prstGeom prst="roundRect">
            <a:avLst>
              <a:gd name="adj" fmla="val 14286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56832" y="1755648"/>
            <a:ext cx="2404872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4F6FA"/>
                </a:solidFill>
              </a:rPr>
              <a:t>Automação</a:t>
            </a:r>
            <a:r>
              <a:rPr lang="en-US" sz="1150" b="1" dirty="0">
                <a:solidFill>
                  <a:srgbClr val="F4F6FA"/>
                </a:solidFill>
              </a:rPr>
              <a:t> do CRM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72600" y="164592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427464" y="1755648"/>
            <a:ext cx="1673352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6FA"/>
                </a:solidFill>
              </a:rPr>
              <a:t>Agente de 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081528"/>
            <a:ext cx="1033272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2313432"/>
            <a:ext cx="24231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4F6FA"/>
                </a:solidFill>
              </a:rPr>
              <a:t>Novo Lead / Respondeu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3703320" y="2313432"/>
            <a:ext cx="262432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 err="1">
                <a:solidFill>
                  <a:srgbClr val="A7B2C9"/>
                </a:solidFill>
              </a:rPr>
              <a:t>Acompanhar</a:t>
            </a:r>
            <a:r>
              <a:rPr lang="en-US" sz="1120" dirty="0">
                <a:solidFill>
                  <a:srgbClr val="A7B2C9"/>
                </a:solidFill>
              </a:rPr>
              <a:t> e </a:t>
            </a:r>
            <a:r>
              <a:rPr lang="en-US" sz="1120" dirty="0" err="1">
                <a:solidFill>
                  <a:srgbClr val="A7B2C9"/>
                </a:solidFill>
              </a:rPr>
              <a:t>validar</a:t>
            </a:r>
            <a:r>
              <a:rPr lang="en-US" sz="1120" dirty="0">
                <a:solidFill>
                  <a:srgbClr val="A7B2C9"/>
                </a:solidFill>
              </a:rPr>
              <a:t> contexto, assumir quando necessario e </a:t>
            </a:r>
            <a:r>
              <a:rPr lang="en-US" sz="1120" dirty="0" err="1">
                <a:solidFill>
                  <a:srgbClr val="A7B2C9"/>
                </a:solidFill>
              </a:rPr>
              <a:t>garantir</a:t>
            </a:r>
            <a:r>
              <a:rPr lang="en-US" sz="1120" dirty="0">
                <a:solidFill>
                  <a:srgbClr val="A7B2C9"/>
                </a:solidFill>
              </a:rPr>
              <a:t> </a:t>
            </a:r>
            <a:r>
              <a:rPr lang="en-US" sz="1120" dirty="0" err="1">
                <a:solidFill>
                  <a:srgbClr val="A7B2C9"/>
                </a:solidFill>
              </a:rPr>
              <a:t>próximo</a:t>
            </a:r>
            <a:r>
              <a:rPr lang="en-US" sz="1120" dirty="0">
                <a:solidFill>
                  <a:srgbClr val="A7B2C9"/>
                </a:solidFill>
              </a:rPr>
              <a:t> passo.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601968" y="2313432"/>
            <a:ext cx="24414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9372600" y="2313432"/>
            <a:ext cx="17556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rgbClr val="A7B2C9"/>
                </a:solidFill>
              </a:rPr>
              <a:t>Engaja</a:t>
            </a:r>
            <a:r>
              <a:rPr lang="en-US" sz="1100" dirty="0">
                <a:solidFill>
                  <a:srgbClr val="A7B2C9"/>
                </a:solidFill>
              </a:rPr>
              <a:t> e </a:t>
            </a:r>
            <a:r>
              <a:rPr lang="en-US" sz="1100" dirty="0" err="1">
                <a:solidFill>
                  <a:srgbClr val="A7B2C9"/>
                </a:solidFill>
              </a:rPr>
              <a:t>qualifica</a:t>
            </a:r>
            <a:r>
              <a:rPr lang="en-US" sz="1100" dirty="0">
                <a:solidFill>
                  <a:srgbClr val="A7B2C9"/>
                </a:solidFill>
              </a:rPr>
              <a:t> com base em BANT e guia para chamada ou visita.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904488"/>
            <a:ext cx="1033272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3136392"/>
            <a:ext cx="24231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4F6FA"/>
                </a:solidFill>
              </a:rPr>
              <a:t>Chamada Agendada / Realizada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3703320" y="3136392"/>
            <a:ext cx="262432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Conduzir a </a:t>
            </a:r>
            <a:r>
              <a:rPr lang="en-US" sz="1120" dirty="0" err="1">
                <a:solidFill>
                  <a:srgbClr val="A7B2C9"/>
                </a:solidFill>
              </a:rPr>
              <a:t>ligação</a:t>
            </a:r>
            <a:r>
              <a:rPr lang="en-US" sz="1120" dirty="0">
                <a:solidFill>
                  <a:srgbClr val="A7B2C9"/>
                </a:solidFill>
              </a:rPr>
              <a:t>, registrar resumo e decidir proxima etapa.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6601968" y="3136392"/>
            <a:ext cx="24414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Modal de </a:t>
            </a:r>
            <a:r>
              <a:rPr lang="en-US" sz="1120" dirty="0" err="1">
                <a:solidFill>
                  <a:srgbClr val="A7B2C9"/>
                </a:solidFill>
              </a:rPr>
              <a:t>ligação</a:t>
            </a:r>
            <a:r>
              <a:rPr lang="en-US" sz="1120" dirty="0">
                <a:solidFill>
                  <a:srgbClr val="A7B2C9"/>
                </a:solidFill>
              </a:rPr>
              <a:t>, QR code, </a:t>
            </a:r>
            <a:r>
              <a:rPr lang="en-US" sz="1120" dirty="0" err="1">
                <a:solidFill>
                  <a:srgbClr val="A7B2C9"/>
                </a:solidFill>
              </a:rPr>
              <a:t>confirmação</a:t>
            </a:r>
            <a:r>
              <a:rPr lang="en-US" sz="1120" dirty="0">
                <a:solidFill>
                  <a:srgbClr val="A7B2C9"/>
                </a:solidFill>
              </a:rPr>
              <a:t> e tela de registro.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372600" y="3136392"/>
            <a:ext cx="17556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rgbClr val="A7B2C9"/>
                </a:solidFill>
              </a:rPr>
              <a:t>Não</a:t>
            </a:r>
            <a:r>
              <a:rPr lang="en-US" sz="1100" dirty="0">
                <a:solidFill>
                  <a:srgbClr val="A7B2C9"/>
                </a:solidFill>
              </a:rPr>
              <a:t> opera essa etapa; </a:t>
            </a:r>
            <a:r>
              <a:rPr lang="en-US" sz="1100" dirty="0" err="1">
                <a:solidFill>
                  <a:srgbClr val="A7B2C9"/>
                </a:solidFill>
              </a:rPr>
              <a:t>lembretes</a:t>
            </a:r>
            <a:r>
              <a:rPr lang="en-US" sz="1100" dirty="0">
                <a:solidFill>
                  <a:srgbClr val="A7B2C9"/>
                </a:solidFill>
              </a:rPr>
              <a:t> </a:t>
            </a:r>
            <a:r>
              <a:rPr lang="en-US" sz="1100" dirty="0" err="1">
                <a:solidFill>
                  <a:srgbClr val="A7B2C9"/>
                </a:solidFill>
              </a:rPr>
              <a:t>funcionam</a:t>
            </a:r>
            <a:r>
              <a:rPr lang="en-US" sz="1100" dirty="0">
                <a:solidFill>
                  <a:srgbClr val="A7B2C9"/>
                </a:solidFill>
              </a:rPr>
              <a:t> melhor.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818888"/>
            <a:ext cx="1033272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8680" y="3959352"/>
            <a:ext cx="2423160" cy="8412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4F6FA"/>
                </a:solidFill>
              </a:rPr>
              <a:t>Aguardando Proposta / Proposta Pronta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3703320" y="3959352"/>
            <a:ext cx="2624328" cy="8412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Gerar proposta completa, revisar dados, enviar mensagem certa e alinhar visita.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601968" y="3959352"/>
            <a:ext cx="2441448" cy="8412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Move lead, abre gerador, baixa PDF e sugere a </a:t>
            </a:r>
            <a:r>
              <a:rPr lang="en-US" sz="1120" dirty="0" err="1">
                <a:solidFill>
                  <a:srgbClr val="A7B2C9"/>
                </a:solidFill>
              </a:rPr>
              <a:t>próxima</a:t>
            </a:r>
            <a:r>
              <a:rPr lang="en-US" sz="1120" dirty="0">
                <a:solidFill>
                  <a:srgbClr val="A7B2C9"/>
                </a:solidFill>
              </a:rPr>
              <a:t> </a:t>
            </a:r>
            <a:r>
              <a:rPr lang="en-US" sz="1120" dirty="0" err="1">
                <a:solidFill>
                  <a:srgbClr val="A7B2C9"/>
                </a:solidFill>
              </a:rPr>
              <a:t>ação</a:t>
            </a:r>
            <a:r>
              <a:rPr lang="en-US" sz="1120" dirty="0">
                <a:solidFill>
                  <a:srgbClr val="A7B2C9"/>
                </a:solidFill>
              </a:rPr>
              <a:t>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372600" y="3959352"/>
            <a:ext cx="1755648" cy="8412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rgbClr val="A7B2C9"/>
                </a:solidFill>
              </a:rPr>
              <a:t>Não</a:t>
            </a:r>
            <a:r>
              <a:rPr lang="en-US" sz="1100" dirty="0">
                <a:solidFill>
                  <a:srgbClr val="A7B2C9"/>
                </a:solidFill>
              </a:rPr>
              <a:t> opera; vendedor lidera a montagem da proposta.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5641848"/>
            <a:ext cx="1033272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" y="4873752"/>
            <a:ext cx="24231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4F6FA"/>
                </a:solidFill>
              </a:rPr>
              <a:t>Visita / </a:t>
            </a:r>
            <a:r>
              <a:rPr lang="en-US" sz="1430" b="1" dirty="0" err="1">
                <a:solidFill>
                  <a:srgbClr val="F4F6FA"/>
                </a:solidFill>
              </a:rPr>
              <a:t>Negociação</a:t>
            </a:r>
            <a:r>
              <a:rPr lang="en-US" sz="1430" b="1" dirty="0">
                <a:solidFill>
                  <a:srgbClr val="F4F6FA"/>
                </a:solidFill>
              </a:rPr>
              <a:t> / Financiamento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3703320" y="4873752"/>
            <a:ext cx="262432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Fechar agenda, </a:t>
            </a:r>
            <a:r>
              <a:rPr lang="en-US" sz="1120" dirty="0" err="1">
                <a:solidFill>
                  <a:srgbClr val="A7B2C9"/>
                </a:solidFill>
              </a:rPr>
              <a:t>negociar</a:t>
            </a:r>
            <a:r>
              <a:rPr lang="en-US" sz="1120" dirty="0">
                <a:solidFill>
                  <a:srgbClr val="A7B2C9"/>
                </a:solidFill>
              </a:rPr>
              <a:t> </a:t>
            </a:r>
            <a:r>
              <a:rPr lang="en-US" sz="1120" dirty="0" err="1">
                <a:solidFill>
                  <a:srgbClr val="A7B2C9"/>
                </a:solidFill>
              </a:rPr>
              <a:t>objeções</a:t>
            </a:r>
            <a:r>
              <a:rPr lang="en-US" sz="1120" dirty="0">
                <a:solidFill>
                  <a:srgbClr val="A7B2C9"/>
                </a:solidFill>
              </a:rPr>
              <a:t>, coletar docs e puxar decisao.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601968" y="4873752"/>
            <a:ext cx="24414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 err="1">
                <a:solidFill>
                  <a:srgbClr val="A7B2C9"/>
                </a:solidFill>
              </a:rPr>
              <a:t>Pós-visita</a:t>
            </a:r>
            <a:r>
              <a:rPr lang="en-US" sz="1120" dirty="0">
                <a:solidFill>
                  <a:srgbClr val="A7B2C9"/>
                </a:solidFill>
              </a:rPr>
              <a:t>, pergunta resultado e etapa seguinte automaticamente.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9372600" y="4873752"/>
            <a:ext cx="182880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2C9"/>
                </a:solidFill>
              </a:rPr>
              <a:t>Recupera no-show, faz follow-up e acompanha financiamento.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6464808"/>
            <a:ext cx="1033272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68680" y="5696712"/>
            <a:ext cx="24231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4F6FA"/>
                </a:solidFill>
              </a:rPr>
              <a:t>Aprovou / Contrato / Pago</a:t>
            </a:r>
            <a:endParaRPr lang="en-US" sz="1430" dirty="0"/>
          </a:p>
        </p:txBody>
      </p:sp>
      <p:sp>
        <p:nvSpPr>
          <p:cNvPr id="35" name="Text 33"/>
          <p:cNvSpPr/>
          <p:nvPr/>
        </p:nvSpPr>
        <p:spPr>
          <a:xfrm>
            <a:off x="3703320" y="5696712"/>
            <a:ext cx="262432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Formalizar, acompanhar assinatura, registrar pagamento e margem.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6601968" y="5696712"/>
            <a:ext cx="24414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7B2C9"/>
                </a:solidFill>
              </a:rPr>
              <a:t>Tela final de </a:t>
            </a:r>
            <a:r>
              <a:rPr lang="en-US" sz="1120" dirty="0" err="1">
                <a:solidFill>
                  <a:srgbClr val="A7B2C9"/>
                </a:solidFill>
              </a:rPr>
              <a:t>comemoração</a:t>
            </a:r>
            <a:r>
              <a:rPr lang="en-US" sz="1120" dirty="0">
                <a:solidFill>
                  <a:srgbClr val="A7B2C9"/>
                </a:solidFill>
              </a:rPr>
              <a:t> e captura de dados de venda.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372600" y="5696712"/>
            <a:ext cx="1755648" cy="7498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2C9"/>
                </a:solidFill>
              </a:rPr>
              <a:t>Nao opera; </a:t>
            </a:r>
            <a:r>
              <a:rPr lang="en-US" sz="1100" dirty="0" err="1">
                <a:solidFill>
                  <a:srgbClr val="A7B2C9"/>
                </a:solidFill>
              </a:rPr>
              <a:t>execução</a:t>
            </a:r>
            <a:r>
              <a:rPr lang="en-US" sz="1100" dirty="0">
                <a:solidFill>
                  <a:srgbClr val="A7B2C9"/>
                </a:solidFill>
              </a:rPr>
              <a:t> 100% humana.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8" name="Picture 37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  <p:sp>
        <p:nvSpPr>
          <p:cNvPr id="40" name="Text 25">
            <a:extLst>
              <a:ext uri="{FF2B5EF4-FFF2-40B4-BE49-F238E27FC236}">
                <a16:creationId xmlns:a16="http://schemas.microsoft.com/office/drawing/2014/main" id="{390F5A43-F85D-4968-B505-850897CB0487}"/>
              </a:ext>
            </a:extLst>
          </p:cNvPr>
          <p:cNvSpPr/>
          <p:nvPr/>
        </p:nvSpPr>
        <p:spPr>
          <a:xfrm>
            <a:off x="6601968" y="2272284"/>
            <a:ext cx="2459736" cy="8092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dirty="0" err="1">
                <a:solidFill>
                  <a:srgbClr val="A7B2C9"/>
                </a:solidFill>
              </a:rPr>
              <a:t>Não</a:t>
            </a:r>
            <a:r>
              <a:rPr lang="en-US" sz="1100" dirty="0">
                <a:solidFill>
                  <a:srgbClr val="A7B2C9"/>
                </a:solidFill>
              </a:rPr>
              <a:t> opera;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entrada do lead </a:t>
            </a:r>
            <a:r>
              <a:rPr lang="en-US" sz="2700" b="1" dirty="0" err="1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até</a:t>
            </a: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chamada ou visita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fase inicial combina abordagem humanizada,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qualificação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 contexto 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sobre o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passo do processo.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32688" y="1664208"/>
            <a:ext cx="22860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A"/>
                </a:solidFill>
              </a:rPr>
              <a:t>Regras operacionais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993392"/>
            <a:ext cx="3886200" cy="35661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 curtas, humanizadas e com uma pergunta por vez.
</a:t>
            </a: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 oferecer 2 </a:t>
            </a:r>
            <a:r>
              <a:rPr lang="en-US" sz="15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opcões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5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horário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acelerar resposta.
</a:t>
            </a: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Qualificar o lead com contexto de segmento, consumo, timing e estrutura.
</a:t>
            </a: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o processo </a:t>
            </a:r>
            <a:r>
              <a:rPr lang="en-US" sz="15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exigir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ligação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 alvo da etapa Respondeu e Chamada Agendada.
</a:t>
            </a:r>
            <a:r>
              <a:rPr lang="en-US" sz="15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empresa preferir ir direto para visita, o agente usa BANT e agenda a visita tecnica.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779008" y="1627632"/>
            <a:ext cx="20116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A"/>
                </a:solidFill>
              </a:rPr>
              <a:t>BANT na pratica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15000" y="1938528"/>
            <a:ext cx="2542032" cy="1078992"/>
          </a:xfrm>
          <a:prstGeom prst="roundRect">
            <a:avLst>
              <a:gd name="adj" fmla="val 10169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879592" y="2103120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879592" y="2135124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8504" y="2075688"/>
            <a:ext cx="1764792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Budget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18504" y="2322576"/>
            <a:ext cx="1764792" cy="57607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Se a parcela ficar igual ou menor que a conta, faz </a:t>
            </a:r>
            <a:r>
              <a:rPr lang="en-US" sz="1150" dirty="0" err="1">
                <a:solidFill>
                  <a:srgbClr val="A7B2C9"/>
                </a:solidFill>
              </a:rPr>
              <a:t>sentido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avançar</a:t>
            </a:r>
            <a:r>
              <a:rPr lang="en-US" sz="1150" dirty="0">
                <a:solidFill>
                  <a:srgbClr val="A7B2C9"/>
                </a:solidFill>
              </a:rPr>
              <a:t>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85632" y="1938528"/>
            <a:ext cx="2542032" cy="1078992"/>
          </a:xfrm>
          <a:prstGeom prst="roundRect">
            <a:avLst>
              <a:gd name="adj" fmla="val 10169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650224" y="2103120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50224" y="2135124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89136" y="2075688"/>
            <a:ext cx="1764792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Authority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089136" y="2322576"/>
            <a:ext cx="1764792" cy="57607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Quem decide: </a:t>
            </a:r>
            <a:r>
              <a:rPr lang="en-US" sz="1150" dirty="0" err="1">
                <a:solidFill>
                  <a:srgbClr val="A7B2C9"/>
                </a:solidFill>
              </a:rPr>
              <a:t>só</a:t>
            </a:r>
            <a:r>
              <a:rPr lang="en-US" sz="1150" dirty="0">
                <a:solidFill>
                  <a:srgbClr val="A7B2C9"/>
                </a:solidFill>
              </a:rPr>
              <a:t> o lead </a:t>
            </a:r>
            <a:r>
              <a:rPr lang="en-US" sz="1150" dirty="0" err="1">
                <a:solidFill>
                  <a:srgbClr val="A7B2C9"/>
                </a:solidFill>
              </a:rPr>
              <a:t>ou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há</a:t>
            </a:r>
            <a:r>
              <a:rPr lang="en-US" sz="1150" dirty="0">
                <a:solidFill>
                  <a:srgbClr val="A7B2C9"/>
                </a:solidFill>
              </a:rPr>
              <a:t> conjuge, </a:t>
            </a:r>
            <a:r>
              <a:rPr lang="en-US" sz="1150" dirty="0" err="1">
                <a:solidFill>
                  <a:srgbClr val="A7B2C9"/>
                </a:solidFill>
              </a:rPr>
              <a:t>sócio</a:t>
            </a:r>
            <a:r>
              <a:rPr lang="en-US" sz="1150" dirty="0">
                <a:solidFill>
                  <a:srgbClr val="A7B2C9"/>
                </a:solidFill>
              </a:rPr>
              <a:t> ou financeiro?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3163824"/>
            <a:ext cx="2542032" cy="1078992"/>
          </a:xfrm>
          <a:prstGeom prst="roundRect">
            <a:avLst>
              <a:gd name="adj" fmla="val 10169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879592" y="3328416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879592" y="3360420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3300984"/>
            <a:ext cx="1764792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Need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18504" y="3547872"/>
            <a:ext cx="1764792" cy="57607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Qual dor pesa mais: conta alta, previsibilidade, </a:t>
            </a:r>
            <a:r>
              <a:rPr lang="en-US" sz="1150" dirty="0" err="1">
                <a:solidFill>
                  <a:srgbClr val="A7B2C9"/>
                </a:solidFill>
              </a:rPr>
              <a:t>operação</a:t>
            </a:r>
            <a:r>
              <a:rPr lang="en-US" sz="1150" dirty="0">
                <a:solidFill>
                  <a:srgbClr val="A7B2C9"/>
                </a:solidFill>
              </a:rPr>
              <a:t> ou investimento?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85632" y="3163824"/>
            <a:ext cx="2542032" cy="1078992"/>
          </a:xfrm>
          <a:prstGeom prst="roundRect">
            <a:avLst>
              <a:gd name="adj" fmla="val 10169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650224" y="3328416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650224" y="3360420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89136" y="3300984"/>
            <a:ext cx="1764792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Timing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089136" y="3547872"/>
            <a:ext cx="1764792" cy="57607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Resolver agora, </a:t>
            </a:r>
            <a:r>
              <a:rPr lang="en-US" sz="1150" dirty="0" err="1">
                <a:solidFill>
                  <a:srgbClr val="A7B2C9"/>
                </a:solidFill>
              </a:rPr>
              <a:t>até</a:t>
            </a:r>
            <a:r>
              <a:rPr lang="en-US" sz="1150" dirty="0">
                <a:solidFill>
                  <a:srgbClr val="A7B2C9"/>
                </a:solidFill>
              </a:rPr>
              <a:t> 3 meses, </a:t>
            </a:r>
            <a:r>
              <a:rPr lang="en-US" sz="1150" dirty="0" err="1">
                <a:solidFill>
                  <a:srgbClr val="A7B2C9"/>
                </a:solidFill>
              </a:rPr>
              <a:t>até</a:t>
            </a:r>
            <a:r>
              <a:rPr lang="en-US" sz="1150" dirty="0">
                <a:solidFill>
                  <a:srgbClr val="A7B2C9"/>
                </a:solidFill>
              </a:rPr>
              <a:t> 6 meses ou ainda avaliando?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79008" y="4681728"/>
            <a:ext cx="29260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4F6FA"/>
                </a:solidFill>
              </a:rPr>
              <a:t>Decisão</a:t>
            </a:r>
            <a:r>
              <a:rPr lang="en-US" sz="2000" b="1" dirty="0">
                <a:solidFill>
                  <a:srgbClr val="F4F6FA"/>
                </a:solidFill>
              </a:rPr>
              <a:t> de saida desta fase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79008" y="4983480"/>
            <a:ext cx="5303520" cy="9144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venda passa por call: qualificar e agendar Chamada Agendada.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venda vai direto para visita: coletar o essencial, agendar Visita Agendada e salvar dados para proposta.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lead sumir: entra o agente de Follow Up; se houver no-show, entra o fluxo de </a:t>
            </a:r>
            <a:r>
              <a:rPr lang="en-US" sz="136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36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Compareceu.</a:t>
            </a:r>
            <a:endParaRPr lang="en-US" sz="136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0" name="Picture 29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Automacao de </a:t>
            </a:r>
            <a:r>
              <a:rPr lang="en-US" sz="2700" b="1" dirty="0" err="1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ligação</a:t>
            </a: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no SolarZap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vendedor deve seguir exatamente o fluxo do modal para garantir rastreabilidade da call 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movimentação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correta do lead.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934152ee-b94f-4734-bbad-01eef29bfa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83343"/>
            <a:ext cx="2404872" cy="1860179"/>
          </a:xfrm>
          <a:prstGeom prst="rect">
            <a:avLst/>
          </a:prstGeom>
          <a:ln>
            <a:solidFill/>
          </a:ln>
        </p:spPr>
      </p:pic>
      <p:sp>
        <p:nvSpPr>
          <p:cNvPr id="6" name="Text 3"/>
          <p:cNvSpPr/>
          <p:nvPr/>
        </p:nvSpPr>
        <p:spPr>
          <a:xfrm>
            <a:off x="822960" y="3392424"/>
            <a:ext cx="229514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1. Escolher iniciar a </a:t>
            </a:r>
            <a:r>
              <a:rPr lang="en-US" sz="940" b="1" dirty="0" err="1">
                <a:solidFill>
                  <a:srgbClr val="F4F6FA"/>
                </a:solidFill>
              </a:rPr>
              <a:t>ligação</a:t>
            </a:r>
            <a:endParaRPr lang="en-US" sz="940" dirty="0"/>
          </a:p>
        </p:txBody>
      </p:sp>
      <p:sp>
        <p:nvSpPr>
          <p:cNvPr id="7" name="Shape 4"/>
          <p:cNvSpPr/>
          <p:nvPr/>
        </p:nvSpPr>
        <p:spPr>
          <a:xfrm>
            <a:off x="3310128" y="1325880"/>
            <a:ext cx="2880360" cy="4572000"/>
          </a:xfrm>
          <a:prstGeom prst="roundRect">
            <a:avLst>
              <a:gd name="adj" fmla="val 381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/mnt/data/b73921c1-23ab-4fbe-b17e-513a653a58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647338"/>
            <a:ext cx="2770632" cy="3618188"/>
          </a:xfrm>
          <a:prstGeom prst="rect">
            <a:avLst/>
          </a:prstGeom>
          <a:ln>
            <a:solidFill/>
          </a:ln>
        </p:spPr>
      </p:pic>
      <p:sp>
        <p:nvSpPr>
          <p:cNvPr id="9" name="Text 5"/>
          <p:cNvSpPr/>
          <p:nvPr/>
        </p:nvSpPr>
        <p:spPr>
          <a:xfrm>
            <a:off x="3419856" y="5678424"/>
            <a:ext cx="266090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2. Escanear, clicar </a:t>
            </a:r>
            <a:r>
              <a:rPr lang="en-US" sz="940" b="1" dirty="0" err="1">
                <a:solidFill>
                  <a:srgbClr val="F4F6FA"/>
                </a:solidFill>
              </a:rPr>
              <a:t>em</a:t>
            </a:r>
            <a:r>
              <a:rPr lang="en-US" sz="940" b="1" dirty="0">
                <a:solidFill>
                  <a:srgbClr val="F4F6FA"/>
                </a:solidFill>
              </a:rPr>
              <a:t> </a:t>
            </a:r>
            <a:r>
              <a:rPr lang="en-US" sz="940" b="1" dirty="0" err="1">
                <a:solidFill>
                  <a:srgbClr val="F4F6FA"/>
                </a:solidFill>
              </a:rPr>
              <a:t>Já</a:t>
            </a:r>
            <a:r>
              <a:rPr lang="en-US" sz="940" b="1" dirty="0">
                <a:solidFill>
                  <a:srgbClr val="F4F6FA"/>
                </a:solidFill>
              </a:rPr>
              <a:t> abri no celular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6309360" y="132588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2" descr="/mnt/data/607d442e-4397-4566-b950-d62759cbe1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76039"/>
            <a:ext cx="2404872" cy="1171866"/>
          </a:xfrm>
          <a:prstGeom prst="rect">
            <a:avLst/>
          </a:prstGeom>
          <a:ln>
            <a:solidFill/>
          </a:ln>
        </p:spPr>
      </p:pic>
      <p:sp>
        <p:nvSpPr>
          <p:cNvPr id="12" name="Text 7"/>
          <p:cNvSpPr/>
          <p:nvPr/>
        </p:nvSpPr>
        <p:spPr>
          <a:xfrm>
            <a:off x="6419088" y="2889504"/>
            <a:ext cx="229514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3. Confirmar se realizou a </a:t>
            </a:r>
            <a:r>
              <a:rPr lang="en-US" sz="940" b="1" dirty="0" err="1">
                <a:solidFill>
                  <a:srgbClr val="F4F6FA"/>
                </a:solidFill>
              </a:rPr>
              <a:t>ligação</a:t>
            </a:r>
            <a:endParaRPr lang="en-US" sz="940" dirty="0"/>
          </a:p>
        </p:txBody>
      </p:sp>
      <p:sp>
        <p:nvSpPr>
          <p:cNvPr id="13" name="Shape 8"/>
          <p:cNvSpPr/>
          <p:nvPr/>
        </p:nvSpPr>
        <p:spPr>
          <a:xfrm>
            <a:off x="8942832" y="1325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3" descr="/mnt/data/31093f49-06f5-4cf1-b275-73e2ffa40f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696" y="1395116"/>
            <a:ext cx="2404872" cy="1836632"/>
          </a:xfrm>
          <a:prstGeom prst="rect">
            <a:avLst/>
          </a:prstGeom>
          <a:ln>
            <a:solidFill/>
          </a:ln>
        </p:spPr>
      </p:pic>
      <p:sp>
        <p:nvSpPr>
          <p:cNvPr id="15" name="Text 9"/>
          <p:cNvSpPr/>
          <p:nvPr/>
        </p:nvSpPr>
        <p:spPr>
          <a:xfrm>
            <a:off x="9052560" y="3392424"/>
            <a:ext cx="229514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4. Registrar como foi a </a:t>
            </a:r>
            <a:r>
              <a:rPr lang="en-US" sz="940" b="1" dirty="0" err="1">
                <a:solidFill>
                  <a:srgbClr val="F4F6FA"/>
                </a:solidFill>
              </a:rPr>
              <a:t>ligação</a:t>
            </a:r>
            <a:endParaRPr lang="en-US" sz="940" dirty="0"/>
          </a:p>
        </p:txBody>
      </p:sp>
      <p:sp>
        <p:nvSpPr>
          <p:cNvPr id="16" name="Shape 10"/>
          <p:cNvSpPr/>
          <p:nvPr/>
        </p:nvSpPr>
        <p:spPr>
          <a:xfrm>
            <a:off x="6309360" y="3822192"/>
            <a:ext cx="5148072" cy="1965960"/>
          </a:xfrm>
          <a:prstGeom prst="roundRect">
            <a:avLst>
              <a:gd name="adj" fmla="val 5581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6565391" y="4096512"/>
            <a:ext cx="3238431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 err="1">
                <a:solidFill>
                  <a:srgbClr val="F4F6FA"/>
                </a:solidFill>
              </a:rPr>
              <a:t>Regras</a:t>
            </a:r>
            <a:r>
              <a:rPr lang="en-US" sz="1850" b="1" dirty="0">
                <a:solidFill>
                  <a:srgbClr val="F4F6FA"/>
                </a:solidFill>
              </a:rPr>
              <a:t> </a:t>
            </a:r>
            <a:r>
              <a:rPr lang="en-US" sz="1850" b="1" dirty="0" err="1">
                <a:solidFill>
                  <a:srgbClr val="F4F6FA"/>
                </a:solidFill>
              </a:rPr>
              <a:t>obrigatórias</a:t>
            </a:r>
            <a:r>
              <a:rPr lang="en-US" sz="1850" b="1" dirty="0">
                <a:solidFill>
                  <a:srgbClr val="F4F6FA"/>
                </a:solidFill>
              </a:rPr>
              <a:t> do vendedor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565392" y="4425696"/>
            <a:ext cx="4572000" cy="10789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escolher WhatsApp ou Telefone, mas ambos levam ao QR code.
</a:t>
            </a:r>
            <a:r>
              <a:rPr lang="en-US" sz="12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abrir no celular, sempre voltar e confirmar se a call aconteceu.
</a:t>
            </a:r>
            <a:r>
              <a:rPr lang="en-US" sz="12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clicou em Sim, Realizei, preencher o resumo da </a:t>
            </a:r>
            <a:r>
              <a:rPr lang="en-US" sz="128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ligação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antes de continuar.
</a:t>
            </a:r>
            <a:r>
              <a:rPr lang="en-US" sz="128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clicou </a:t>
            </a:r>
            <a:r>
              <a:rPr lang="en-US" sz="128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8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Realizei, o lead </a:t>
            </a:r>
            <a:r>
              <a:rPr lang="en-US" sz="128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deve avancar sem nova </a:t>
            </a:r>
            <a:r>
              <a:rPr lang="en-US" sz="128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r>
              <a:rPr lang="en-US" sz="128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comercial.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2BE68AC6-6FC9-475C-99D2-ABE3BB89BDE0}"/>
              </a:ext>
            </a:extLst>
          </p:cNvPr>
          <p:cNvSpPr/>
          <p:nvPr/>
        </p:nvSpPr>
        <p:spPr>
          <a:xfrm>
            <a:off x="1644854" y="2532595"/>
            <a:ext cx="325238" cy="826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55DB43B-678C-4288-8F9C-1BB82D6705D0}"/>
              </a:ext>
            </a:extLst>
          </p:cNvPr>
          <p:cNvSpPr/>
          <p:nvPr/>
        </p:nvSpPr>
        <p:spPr>
          <a:xfrm>
            <a:off x="4251960" y="2834640"/>
            <a:ext cx="1082040" cy="9875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chamada realizada para a proposta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registro da ligacao, o CRM conduz o vendedor para mover etapa, gerar proposta e abrir o gerador completo.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c25fd865-f746-4489-9f21-8272c86ea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47" y="1472184"/>
            <a:ext cx="2582562" cy="1408176"/>
          </a:xfrm>
          <a:prstGeom prst="rect">
            <a:avLst/>
          </a:prstGeom>
          <a:ln>
            <a:solidFill/>
          </a:ln>
        </p:spPr>
      </p:pic>
      <p:sp>
        <p:nvSpPr>
          <p:cNvPr id="6" name="Text 3"/>
          <p:cNvSpPr/>
          <p:nvPr/>
        </p:nvSpPr>
        <p:spPr>
          <a:xfrm>
            <a:off x="859536" y="3026664"/>
            <a:ext cx="261518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1. Confirmar a mudanca para Aguardando Proposta</a:t>
            </a:r>
            <a:endParaRPr lang="en-US" sz="940" dirty="0"/>
          </a:p>
        </p:txBody>
      </p:sp>
      <p:sp>
        <p:nvSpPr>
          <p:cNvPr id="7" name="Shape 4"/>
          <p:cNvSpPr/>
          <p:nvPr/>
        </p:nvSpPr>
        <p:spPr>
          <a:xfrm>
            <a:off x="3822192" y="141732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/mnt/data/98a245d3-4254-483e-98a1-c87ffd4b14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518" y="1472184"/>
            <a:ext cx="2233988" cy="1408176"/>
          </a:xfrm>
          <a:prstGeom prst="rect">
            <a:avLst/>
          </a:prstGeom>
          <a:ln>
            <a:solidFill/>
          </a:ln>
        </p:spPr>
      </p:pic>
      <p:sp>
        <p:nvSpPr>
          <p:cNvPr id="9" name="Text 5"/>
          <p:cNvSpPr/>
          <p:nvPr/>
        </p:nvSpPr>
        <p:spPr>
          <a:xfrm>
            <a:off x="3931920" y="3026664"/>
            <a:ext cx="261518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2. Escolher Gerar Proposta</a:t>
            </a:r>
            <a:endParaRPr lang="en-US" sz="940" dirty="0"/>
          </a:p>
        </p:txBody>
      </p:sp>
      <p:sp>
        <p:nvSpPr>
          <p:cNvPr id="10" name="Shape 6"/>
          <p:cNvSpPr/>
          <p:nvPr/>
        </p:nvSpPr>
        <p:spPr>
          <a:xfrm>
            <a:off x="6903720" y="1097280"/>
            <a:ext cx="4572000" cy="4343400"/>
          </a:xfrm>
          <a:prstGeom prst="roundRect">
            <a:avLst>
              <a:gd name="adj" fmla="val 252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2" descr="/mnt/data/0153d8c1-4712-4e4a-997a-25a158880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1407865"/>
            <a:ext cx="4462272" cy="3411334"/>
          </a:xfrm>
          <a:prstGeom prst="rect">
            <a:avLst/>
          </a:prstGeom>
          <a:ln>
            <a:solidFill/>
          </a:ln>
        </p:spPr>
      </p:pic>
      <p:sp>
        <p:nvSpPr>
          <p:cNvPr id="12" name="Text 7"/>
          <p:cNvSpPr/>
          <p:nvPr/>
        </p:nvSpPr>
        <p:spPr>
          <a:xfrm>
            <a:off x="7013448" y="5221224"/>
            <a:ext cx="4352544" cy="1097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4F6FA"/>
                </a:solidFill>
              </a:rPr>
              <a:t>3. Abrir o gerador guiado</a:t>
            </a:r>
            <a:endParaRPr lang="en-US" sz="940" dirty="0"/>
          </a:p>
        </p:txBody>
      </p:sp>
      <p:sp>
        <p:nvSpPr>
          <p:cNvPr id="13" name="Shape 8"/>
          <p:cNvSpPr/>
          <p:nvPr/>
        </p:nvSpPr>
        <p:spPr>
          <a:xfrm>
            <a:off x="749808" y="3584448"/>
            <a:ext cx="5907024" cy="1965960"/>
          </a:xfrm>
          <a:prstGeom prst="roundRect">
            <a:avLst>
              <a:gd name="adj" fmla="val 5581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1005840" y="3886200"/>
            <a:ext cx="19202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4F6FA"/>
                </a:solidFill>
              </a:rPr>
              <a:t>Padrao esperado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005840" y="4224528"/>
            <a:ext cx="525780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 mover para a etapa sugerida pelo modal quando a ligacao validou interesse real.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deixar a proposta para depois se as informacoes essenciais ja foram coletadas.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Conferir todos os dados antes de gerar e baixar o PDF; a proposta precisa sair pronta para a visita.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65008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Gerador de proposta: o que precisa ser preenchido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gerador vira o ponto central da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ele consolida dados tecnicos, comerciais, financeiros e cadastrais antes do PDF.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972800" cy="5440680"/>
          </a:xfrm>
          <a:prstGeom prst="roundRect">
            <a:avLst>
              <a:gd name="adj" fmla="val 2017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719072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8992" y="188366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8992" y="191566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17904" y="1856232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1. Tipo de projeto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17904" y="2103120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Residencial, comercial, industrial, rural ou usina solar.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719072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26864" y="188366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26864" y="191566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856232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2. Local, consumo e conta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65776" y="2103120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Endereço</a:t>
            </a:r>
            <a:r>
              <a:rPr lang="en-US" sz="1150" dirty="0">
                <a:solidFill>
                  <a:srgbClr val="A7B2C9"/>
                </a:solidFill>
              </a:rPr>
              <a:t>, consumo, valor da conta e </a:t>
            </a:r>
            <a:r>
              <a:rPr lang="en-US" sz="1150" dirty="0" err="1">
                <a:solidFill>
                  <a:srgbClr val="A7B2C9"/>
                </a:solidFill>
              </a:rPr>
              <a:t>informações</a:t>
            </a:r>
            <a:r>
              <a:rPr lang="en-US" sz="1150" dirty="0">
                <a:solidFill>
                  <a:srgbClr val="A7B2C9"/>
                </a:solidFill>
              </a:rPr>
              <a:t> de contexto.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719072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174736" y="1883664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74736" y="1915668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13648" y="1856232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3. Equipamentos e estrutura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13648" y="2103120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Módulo</a:t>
            </a:r>
            <a:r>
              <a:rPr lang="en-US" sz="1150" dirty="0">
                <a:solidFill>
                  <a:srgbClr val="A7B2C9"/>
                </a:solidFill>
              </a:rPr>
              <a:t>, inversor, tipo de telhado/solo e </a:t>
            </a:r>
            <a:r>
              <a:rPr lang="en-US" sz="1150" dirty="0" err="1">
                <a:solidFill>
                  <a:srgbClr val="A7B2C9"/>
                </a:solidFill>
              </a:rPr>
              <a:t>premissas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técnicas</a:t>
            </a:r>
            <a:r>
              <a:rPr lang="en-US" sz="1150" dirty="0">
                <a:solidFill>
                  <a:srgbClr val="A7B2C9"/>
                </a:solidFill>
              </a:rPr>
              <a:t> do sistema.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78992" y="3227832"/>
            <a:ext cx="347472" cy="347472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78992" y="3259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17904" y="3200400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4. Pagamento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517904" y="3447288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Condição</a:t>
            </a:r>
            <a:r>
              <a:rPr lang="en-US" sz="1150" dirty="0">
                <a:solidFill>
                  <a:srgbClr val="A7B2C9"/>
                </a:solidFill>
              </a:rPr>
              <a:t>, valor total, desconto a vista e bancos selecionados para financiamento.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306324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626864" y="3227832"/>
            <a:ext cx="347472" cy="347472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26864" y="3259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65776" y="3200400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5. </a:t>
            </a:r>
            <a:r>
              <a:rPr lang="en-US" sz="1550" b="1" dirty="0" err="1">
                <a:solidFill>
                  <a:srgbClr val="F4F6FA"/>
                </a:solidFill>
              </a:rPr>
              <a:t>Personalização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065776" y="3447288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Observações</a:t>
            </a:r>
            <a:r>
              <a:rPr lang="en-US" sz="1150" dirty="0">
                <a:solidFill>
                  <a:srgbClr val="A7B2C9"/>
                </a:solidFill>
              </a:rPr>
              <a:t>, nome da empresa, CNPJ, dados do cliente e CNPJ quando for PJ.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06324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74736" y="3227832"/>
            <a:ext cx="347472" cy="347472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74736" y="3259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13648" y="3200400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6. Revisao final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613648" y="3447288"/>
            <a:ext cx="2468880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Conferir tudo, gerar o PDF e baixar a proposta pronta para envio/agendamento.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4400" y="4370832"/>
            <a:ext cx="10424160" cy="1325880"/>
          </a:xfrm>
          <a:prstGeom prst="roundRect">
            <a:avLst>
              <a:gd name="adj" fmla="val 827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170432" y="4645152"/>
            <a:ext cx="3062702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 err="1">
                <a:solidFill>
                  <a:srgbClr val="F4F6FA"/>
                </a:solidFill>
              </a:rPr>
              <a:t>Regra</a:t>
            </a:r>
            <a:r>
              <a:rPr lang="en-US" sz="1850" b="1" dirty="0">
                <a:solidFill>
                  <a:srgbClr val="F4F6FA"/>
                </a:solidFill>
              </a:rPr>
              <a:t> de financiamento</a:t>
            </a: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1170432" y="4956048"/>
            <a:ext cx="97840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7B2C9"/>
                </a:solidFill>
              </a:rPr>
              <a:t>Ao selecionar </a:t>
            </a:r>
            <a:r>
              <a:rPr lang="en-US" sz="1500" dirty="0" err="1">
                <a:solidFill>
                  <a:srgbClr val="A7B2C9"/>
                </a:solidFill>
              </a:rPr>
              <a:t>Financiamento</a:t>
            </a:r>
            <a:r>
              <a:rPr lang="en-US" sz="1500" dirty="0">
                <a:solidFill>
                  <a:srgbClr val="A7B2C9"/>
                </a:solidFill>
              </a:rPr>
              <a:t> </a:t>
            </a:r>
            <a:r>
              <a:rPr lang="en-US" sz="1500" dirty="0" err="1">
                <a:solidFill>
                  <a:srgbClr val="A7B2C9"/>
                </a:solidFill>
              </a:rPr>
              <a:t>bancário</a:t>
            </a:r>
            <a:r>
              <a:rPr lang="en-US" sz="1500" dirty="0">
                <a:solidFill>
                  <a:srgbClr val="A7B2C9"/>
                </a:solidFill>
              </a:rPr>
              <a:t>, o vendedor pode escolher quantos bancos quiser, </a:t>
            </a:r>
            <a:r>
              <a:rPr lang="en-US" sz="1500" dirty="0" err="1">
                <a:solidFill>
                  <a:srgbClr val="A7B2C9"/>
                </a:solidFill>
              </a:rPr>
              <a:t>configurando</a:t>
            </a:r>
            <a:r>
              <a:rPr lang="en-US" sz="1500" dirty="0">
                <a:solidFill>
                  <a:srgbClr val="A7B2C9"/>
                </a:solidFill>
              </a:rPr>
              <a:t> as </a:t>
            </a:r>
            <a:r>
              <a:rPr lang="en-US" sz="1500" dirty="0" err="1">
                <a:solidFill>
                  <a:srgbClr val="A7B2C9"/>
                </a:solidFill>
              </a:rPr>
              <a:t>taxas</a:t>
            </a:r>
            <a:r>
              <a:rPr lang="en-US" sz="1500" dirty="0">
                <a:solidFill>
                  <a:srgbClr val="A7B2C9"/>
                </a:solidFill>
              </a:rPr>
              <a:t> de </a:t>
            </a:r>
            <a:r>
              <a:rPr lang="en-US" sz="1500" dirty="0" err="1">
                <a:solidFill>
                  <a:srgbClr val="A7B2C9"/>
                </a:solidFill>
              </a:rPr>
              <a:t>juros</a:t>
            </a:r>
            <a:r>
              <a:rPr lang="en-US" sz="1500" dirty="0">
                <a:solidFill>
                  <a:srgbClr val="A7B2C9"/>
                </a:solidFill>
              </a:rPr>
              <a:t>.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8" name="Picture 37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Proposta pronta -&gt; agendar visita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gerar o PDF, o CRM baixa a proposta, sugere 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etapa e abre o fluxo de mensagem para marcar 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972800" cy="5303520"/>
          </a:xfrm>
          <a:prstGeom prst="roundRect">
            <a:avLst>
              <a:gd name="adj" fmla="val 2069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19202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97280" y="208483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2116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36192" y="2057400"/>
            <a:ext cx="1371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Baixar proposta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36192" y="2304288"/>
            <a:ext cx="1371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Gerar e baixar PDF com todos os dados conferidos.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47872" y="208483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47872" y="2116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86784" y="2057400"/>
            <a:ext cx="1371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Abrir mensagem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86784" y="2304288"/>
            <a:ext cx="1371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O CRM sugere a proxima etapa e preenche uma mensagem inicial.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33872" y="19202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98464" y="208483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98464" y="2116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057400"/>
            <a:ext cx="13716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Cruzar agenda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37376" y="2304288"/>
            <a:ext cx="1371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</a:rPr>
              <a:t>Definir</a:t>
            </a:r>
            <a:r>
              <a:rPr lang="en-US" sz="1150" dirty="0">
                <a:solidFill>
                  <a:srgbClr val="A7B2C9"/>
                </a:solidFill>
              </a:rPr>
              <a:t> </a:t>
            </a:r>
            <a:r>
              <a:rPr lang="en-US" sz="1150" dirty="0" err="1">
                <a:solidFill>
                  <a:srgbClr val="A7B2C9"/>
                </a:solidFill>
              </a:rPr>
              <a:t>horários</a:t>
            </a:r>
            <a:r>
              <a:rPr lang="en-US" sz="1150" dirty="0">
                <a:solidFill>
                  <a:srgbClr val="A7B2C9"/>
                </a:solidFill>
              </a:rPr>
              <a:t> conforme a agenda do vendedor de campo.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84464" y="192024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449056" y="208483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49056" y="211683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87968" y="2057400"/>
            <a:ext cx="1536192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Enviar e confirmar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87968" y="2304288"/>
            <a:ext cx="137160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Mandar a mensagem e esperar a resposta do lead.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145536" y="2441448"/>
            <a:ext cx="164592" cy="201168"/>
          </a:xfrm>
          <a:prstGeom prst="chevron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596128" y="2441448"/>
            <a:ext cx="164592" cy="201168"/>
          </a:xfrm>
          <a:prstGeom prst="chevron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046720" y="2441448"/>
            <a:ext cx="164592" cy="201168"/>
          </a:xfrm>
          <a:prstGeom prst="chevron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932688" y="388620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188720" y="4169664"/>
            <a:ext cx="23774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FD38F"/>
                </a:solidFill>
              </a:rPr>
              <a:t>Se o lead aceitar a visita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188720" y="4507992"/>
            <a:ext cx="4297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</a:t>
            </a:r>
            <a:r>
              <a:rPr lang="en-US" sz="136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6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que o lead aceitou.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o agendamento e registrar data, hora e </a:t>
            </a:r>
            <a:r>
              <a:rPr lang="en-US" sz="136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responsável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campo.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Garantir que os decisores estejam presentes na visita.</a:t>
            </a:r>
            <a:endParaRPr lang="en-US" sz="1360" dirty="0"/>
          </a:p>
        </p:txBody>
      </p:sp>
      <p:sp>
        <p:nvSpPr>
          <p:cNvPr id="31" name="Shape 29"/>
          <p:cNvSpPr/>
          <p:nvPr/>
        </p:nvSpPr>
        <p:spPr>
          <a:xfrm>
            <a:off x="6144768" y="3886200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00800" y="4169664"/>
            <a:ext cx="303989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7F7F"/>
                </a:solidFill>
              </a:rPr>
              <a:t>Se o lead </a:t>
            </a:r>
            <a:r>
              <a:rPr lang="en-US" sz="1850" b="1" dirty="0" err="1">
                <a:solidFill>
                  <a:srgbClr val="FF7F7F"/>
                </a:solidFill>
              </a:rPr>
              <a:t>não</a:t>
            </a:r>
            <a:r>
              <a:rPr lang="en-US" sz="1850" b="1" dirty="0">
                <a:solidFill>
                  <a:srgbClr val="FF7F7F"/>
                </a:solidFill>
              </a:rPr>
              <a:t> aceitar ou sumir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6400800" y="4507992"/>
            <a:ext cx="4297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negociando o horario ate achar encaixe viavel.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parar de responder, o follow-up automatizado entra na cadencia definida.
</a:t>
            </a:r>
            <a:r>
              <a:rPr lang="en-US" sz="136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</a:t>
            </a:r>
            <a:r>
              <a:rPr lang="en-US" sz="1360" dirty="0" err="1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houver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60" dirty="0" err="1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objeção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 vendedor assume a conversa e remove a </a:t>
            </a:r>
            <a:r>
              <a:rPr lang="en-US" sz="1360" dirty="0" err="1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fricção</a:t>
            </a:r>
            <a:r>
              <a:rPr lang="en-US" sz="1360" dirty="0">
                <a:solidFill>
                  <a:srgbClr val="F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36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Picture 33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411480"/>
            <a:ext cx="8126437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Pós-visita</a:t>
            </a: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registrar resultado e direcionar o lead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horas depois do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horário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marcado, o SolarZap abre o fechamento da visita para o vendedor decidir o destino correto do lead.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5349240"/>
          </a:xfrm>
          <a:prstGeom prst="roundRect">
            <a:avLst>
              <a:gd name="adj" fmla="val 2051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102744"/>
          </a:solidFill>
          <a:ln w="12700">
            <a:solidFill>
              <a:srgbClr val="F85627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43000" y="1975104"/>
            <a:ext cx="150876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4F6FA"/>
                </a:solidFill>
              </a:rPr>
              <a:t>Visita</a:t>
            </a:r>
            <a:endParaRPr lang="en-US" sz="1850" dirty="0"/>
          </a:p>
          <a:p>
            <a:pPr marL="0" indent="0" algn="ctr">
              <a:buNone/>
            </a:pPr>
            <a:r>
              <a:rPr lang="en-US" sz="1850" b="1" dirty="0">
                <a:solidFill>
                  <a:srgbClr val="F4F6FA"/>
                </a:solidFill>
              </a:rPr>
              <a:t>Realizada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3163824" y="2157984"/>
            <a:ext cx="164592" cy="146304"/>
          </a:xfrm>
          <a:prstGeom prst="chevron">
            <a:avLst/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0D2C4B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547872" y="1876907"/>
            <a:ext cx="1527048" cy="6126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Proposta em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Negociacao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221224" y="2157984"/>
            <a:ext cx="164592" cy="146304"/>
          </a:xfrm>
          <a:prstGeom prst="chevron">
            <a:avLst/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0D2C4B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5605272" y="2011680"/>
            <a:ext cx="1600200" cy="35928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Financiamento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278624" y="2157984"/>
            <a:ext cx="164592" cy="146304"/>
          </a:xfrm>
          <a:prstGeom prst="chevron">
            <a:avLst/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589520" y="17830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0D2C4B"/>
          </a:solidFill>
          <a:ln w="12700">
            <a:solidFill>
              <a:srgbClr val="6FD3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662672" y="1810513"/>
            <a:ext cx="1527048" cy="722375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Aprovou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Projeto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336024" y="2157984"/>
            <a:ext cx="164592" cy="146304"/>
          </a:xfrm>
          <a:prstGeom prst="chevron">
            <a:avLst/>
          </a:prstGeom>
          <a:solidFill>
            <a:srgbClr val="15385C"/>
          </a:solidFill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646920" y="1783080"/>
            <a:ext cx="1691640" cy="841248"/>
          </a:xfrm>
          <a:prstGeom prst="roundRect">
            <a:avLst>
              <a:gd name="adj" fmla="val 13043"/>
            </a:avLst>
          </a:prstGeom>
          <a:solidFill>
            <a:srgbClr val="0D2C4B"/>
          </a:solidFill>
          <a:ln w="12700">
            <a:solidFill>
              <a:srgbClr val="6FD3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720072" y="1783080"/>
            <a:ext cx="1557528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Contrato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F4F6FA"/>
                </a:solidFill>
              </a:rPr>
              <a:t>Assinado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19" y="3346704"/>
            <a:ext cx="2603223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4F6FA"/>
                </a:solidFill>
              </a:rPr>
              <a:t>Se entrar </a:t>
            </a:r>
            <a:r>
              <a:rPr lang="en-US" sz="1850" b="1" dirty="0" err="1">
                <a:solidFill>
                  <a:srgbClr val="F4F6FA"/>
                </a:solidFill>
              </a:rPr>
              <a:t>em</a:t>
            </a:r>
            <a:r>
              <a:rPr lang="en-US" sz="1850" b="1" dirty="0">
                <a:solidFill>
                  <a:srgbClr val="F4F6FA"/>
                </a:solidFill>
              </a:rPr>
              <a:t> </a:t>
            </a:r>
            <a:r>
              <a:rPr lang="en-US" sz="1850" b="1" dirty="0" err="1">
                <a:solidFill>
                  <a:srgbClr val="F4F6FA"/>
                </a:solidFill>
              </a:rPr>
              <a:t>Negociação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402336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contato continuo ate quebrar todas as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objeções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Puxar forma de pagamento o quanto antes: financiamento ou sem financiamento.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alvo final dessa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trilha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é Aprovou Projeto.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5833872" y="3063240"/>
            <a:ext cx="4910328" cy="2377440"/>
          </a:xfrm>
          <a:prstGeom prst="roundRect">
            <a:avLst>
              <a:gd name="adj" fmla="val 4615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08192" y="3346704"/>
            <a:ext cx="2908122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4F6FA"/>
                </a:solidFill>
              </a:rPr>
              <a:t>Se entrar em Financiamento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08191" y="3675888"/>
            <a:ext cx="4407409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Coletar toda a </a:t>
            </a:r>
            <a:r>
              <a:rPr lang="en-US" sz="142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documentação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conduzir a </a:t>
            </a:r>
            <a:r>
              <a:rPr lang="en-US" sz="142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cotação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 bancos parceiros.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deixar o cliente sozinho nesse processo; o vendedor acompanha ate a </a:t>
            </a:r>
            <a:r>
              <a:rPr lang="en-US" sz="142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aprovado, mover para Aprovou Projeto e formalizar contrato.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Playbook de </a:t>
            </a:r>
            <a:r>
              <a:rPr lang="en-US" sz="2700" b="1" dirty="0" err="1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negociação</a:t>
            </a: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 financiamento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dois momentos mais sensiveis do processo pedem linguagem simples, senso de urgencia e total condução do vendedor.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303520" cy="5120640"/>
          </a:xfrm>
          <a:prstGeom prst="roundRect">
            <a:avLst>
              <a:gd name="adj" fmla="val 2143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32688" y="1700784"/>
            <a:ext cx="20116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4F6FA"/>
                </a:solidFill>
              </a:rPr>
              <a:t>Negociação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084832"/>
            <a:ext cx="4526280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a conversa pela forma de pagamento: financiamento ou sem financiamento.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lead disser “ta caro”,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objeção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valor total vs parcela e ajustar dentro da politica comercial.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lead disser “vou pensar”, descobrir o travamento real: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condição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confiança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duvida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1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ou decisor.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para Aprovou Projeto quando ouvir sinais claros como “fechado”, “pode seguir” ou “manda o contrato”.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6199632" y="1371600"/>
            <a:ext cx="5303520" cy="5120640"/>
          </a:xfrm>
          <a:prstGeom prst="roundRect">
            <a:avLst>
              <a:gd name="adj" fmla="val 2143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55664" y="1700784"/>
            <a:ext cx="21945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6FA"/>
                </a:solidFill>
              </a:rPr>
              <a:t>Financiamento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5664" y="2084832"/>
            <a:ext cx="4669536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o financiamento como troca de conta por parcela previsivel, sem linguagem bancaria pesada.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Coletar documentos em pedidos curtos e confirmar cada envio para evitar reprocesso.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Fazer follow-up de status: enviado, </a:t>
            </a:r>
            <a:r>
              <a:rPr lang="en-US" sz="151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1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10" dirty="0" err="1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pendência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aprovado ou reprovado.
</a:t>
            </a:r>
            <a:r>
              <a:rPr lang="en-US" sz="151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4E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banco reprovar, tentar ajustar entrada, prazo ou banco antes de perder o lead.</a:t>
            </a:r>
            <a:endParaRPr lang="en-US" sz="15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de IA que sustentam o processo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fossem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um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único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atendimento continuo para o cliente, mas sempre empurrando o lead para a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 pipeline.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10972800" cy="5349240"/>
          </a:xfrm>
          <a:prstGeom prst="roundRect">
            <a:avLst>
              <a:gd name="adj" fmla="val 2051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8992" y="194767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8992" y="197967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17904" y="1920240"/>
            <a:ext cx="22860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Agente de Respondeu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17904" y="2167128"/>
            <a:ext cx="228600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Qualifica com BANT, coleta contexto do lead, usa comentarios do CRM e tenta levar para Chamada Agendada ou Visita Agendada.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416552" y="1947672"/>
            <a:ext cx="347472" cy="347472"/>
          </a:xfrm>
          <a:prstGeom prst="ellipse">
            <a:avLst/>
          </a:prstGeom>
          <a:solidFill>
            <a:srgbClr val="4E78AE"/>
          </a:solidFill>
          <a:ln w="12700">
            <a:solidFill>
              <a:srgbClr val="4E78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16552" y="197967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5464" y="1920240"/>
            <a:ext cx="22860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Agente de </a:t>
            </a:r>
            <a:r>
              <a:rPr lang="en-US" sz="1550" b="1" dirty="0" err="1">
                <a:solidFill>
                  <a:srgbClr val="F4F6FA"/>
                </a:solidFill>
              </a:rPr>
              <a:t>Não</a:t>
            </a:r>
            <a:r>
              <a:rPr lang="en-US" sz="1550" b="1" dirty="0">
                <a:solidFill>
                  <a:srgbClr val="F4F6FA"/>
                </a:solidFill>
              </a:rPr>
              <a:t> Compareceu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855464" y="2167128"/>
            <a:ext cx="228600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Recupera o no-show sem gerar atrito, diagnostica motivo e reage com reagendamento de call ou BANT por mensagem para agendar visita.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178308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54112" y="1947672"/>
            <a:ext cx="347472" cy="347472"/>
          </a:xfrm>
          <a:prstGeom prst="ellipse">
            <a:avLst/>
          </a:prstGeom>
          <a:solidFill>
            <a:srgbClr val="F85627"/>
          </a:solidFill>
          <a:ln w="12700">
            <a:solidFill>
              <a:srgbClr val="F856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54112" y="1979676"/>
            <a:ext cx="347472" cy="12801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23C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93024" y="1920240"/>
            <a:ext cx="228600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A"/>
                </a:solidFill>
              </a:rPr>
              <a:t>Agente de Follow Up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93024" y="2167128"/>
            <a:ext cx="228600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</a:rPr>
              <a:t>Reengaja leads que pararam de responder na cadencia padrao de 3h - 1 dia - 2 dias - 3 dias - 7 dias, configuravel pelo vendedor.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977640"/>
            <a:ext cx="9738360" cy="1737360"/>
          </a:xfrm>
          <a:prstGeom prst="roundRect">
            <a:avLst>
              <a:gd name="adj" fmla="val 6316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170432" y="4279392"/>
            <a:ext cx="2989192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 err="1">
                <a:solidFill>
                  <a:srgbClr val="F4F6FA"/>
                </a:solidFill>
              </a:rPr>
              <a:t>Sobre</a:t>
            </a:r>
            <a:r>
              <a:rPr lang="en-US" sz="1850" b="1" dirty="0">
                <a:solidFill>
                  <a:srgbClr val="F4F6FA"/>
                </a:solidFill>
              </a:rPr>
              <a:t> o </a:t>
            </a:r>
            <a:r>
              <a:rPr lang="en-US" sz="1850" b="1" dirty="0" err="1">
                <a:solidFill>
                  <a:srgbClr val="F4F6FA"/>
                </a:solidFill>
              </a:rPr>
              <a:t>funcionamento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170432" y="4590288"/>
            <a:ext cx="9308592" cy="8595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agente pode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acessar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comentários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 lead, FAQ,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objeções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depoimentos e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informações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 empresa para responder com contexto.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vendedor mandar mensagem pelo WhatsApp vinculado ao agente, a IA é desativada para aquele cliente ate ser reativada na interface.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Etapas operacionais como Chamada Realizada, Aguardando Proposta, Proposta Pronta, Visita Realizada, Aprovou Projeto e Projeto Pago seguem sem agente dedicado.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10927080" y="3977640"/>
            <a:ext cx="457200" cy="1737360"/>
          </a:xfrm>
          <a:prstGeom prst="roundRect">
            <a:avLst>
              <a:gd name="adj" fmla="val 24000"/>
            </a:avLst>
          </a:prstGeom>
          <a:solidFill>
            <a:srgbClr val="0D2C4B"/>
          </a:solidFill>
          <a:ln w="12700">
            <a:solidFill>
              <a:srgbClr val="0D2C4B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884877" y="4572000"/>
            <a:ext cx="541606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</a:rPr>
              <a:t>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</a:rPr>
              <a:t>apoia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6FA"/>
                </a:solidFill>
              </a:rPr>
              <a:t>processo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86384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F6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operacional do vendedor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8755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estes pontos forem seguidos todos os dias, o pipeline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fica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50" dirty="0" err="1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confiável</a:t>
            </a:r>
            <a:r>
              <a:rPr lang="en-US" sz="1150" dirty="0">
                <a:solidFill>
                  <a:srgbClr val="A7B2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o processo comercial escala com previsibilidade.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3474720" cy="5349240"/>
          </a:xfrm>
          <a:prstGeom prst="roundRect">
            <a:avLst>
              <a:gd name="adj" fmla="val 3158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87552" y="1682496"/>
            <a:ext cx="21945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A"/>
                </a:solidFill>
              </a:rPr>
              <a:t>Disciplina de CRM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029968"/>
            <a:ext cx="2743200" cy="1645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encerrar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sem registrar o resultado.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a etapa no momento certo,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em lote no fim do dia.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Preencher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comentários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o </a:t>
            </a:r>
            <a:r>
              <a:rPr lang="en-US" sz="1420" dirty="0" err="1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</a:t>
            </a:r>
            <a:r>
              <a:rPr lang="en-US" sz="1420" dirty="0">
                <a:solidFill>
                  <a:srgbClr val="F4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contato humano ou da IA.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987552" y="3950208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A"/>
                </a:solidFill>
              </a:rPr>
              <a:t>Disciplina comercial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4297680"/>
            <a:ext cx="2743200" cy="1645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Sempre puxar proximo passo claro: call, visita, proposta, contrato ou pagamento.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deixar financiamento </a:t>
            </a:r>
            <a:r>
              <a:rPr lang="en-US" sz="142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mão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 cliente.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Nao perder timing </a:t>
            </a:r>
            <a:r>
              <a:rPr lang="en-US" sz="142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visita: a </a:t>
            </a:r>
            <a:r>
              <a:rPr lang="en-US" sz="1420" dirty="0" err="1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r>
              <a:rPr lang="en-US" sz="1420" dirty="0">
                <a:solidFill>
                  <a:srgbClr val="6FD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precisa andar.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498848" y="1325880"/>
            <a:ext cx="3474720" cy="5349240"/>
          </a:xfrm>
          <a:prstGeom prst="roundRect">
            <a:avLst>
              <a:gd name="adj" fmla="val 3158"/>
            </a:avLst>
          </a:prstGeom>
          <a:solidFill>
            <a:srgbClr val="102744"/>
          </a:solidFill>
          <a:ln w="12700">
            <a:solidFill>
              <a:srgbClr val="15385C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73168" y="1682496"/>
            <a:ext cx="23774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6FA"/>
                </a:solidFill>
              </a:rPr>
              <a:t>Momento de venda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73168" y="2029968"/>
            <a:ext cx="2743200" cy="1828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aprovar projeto, mandar contrato imediatamente.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pagar, registrar custo, valor da venda, margem, forma de pagamento e parcelas.
</a:t>
            </a:r>
            <a:r>
              <a:rPr lang="en-US" sz="1420" b="1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do pagamento, conduzir a </a:t>
            </a:r>
            <a:r>
              <a:rPr lang="en-US" sz="1420" dirty="0" err="1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</a:t>
            </a:r>
            <a:r>
              <a:rPr lang="en-US" sz="1420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experiencia ate a coleta de </a:t>
            </a:r>
            <a:r>
              <a:rPr lang="en-US" sz="1420" dirty="0" err="1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r>
              <a:rPr lang="en-US" sz="1420" dirty="0">
                <a:solidFill>
                  <a:srgbClr val="F856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200400" cy="5349240"/>
          </a:xfrm>
          <a:prstGeom prst="roundRect">
            <a:avLst>
              <a:gd name="adj" fmla="val 3429"/>
            </a:avLst>
          </a:prstGeom>
          <a:solidFill>
            <a:srgbClr val="102744"/>
          </a:solidFill>
          <a:ln w="12700">
            <a:solidFill>
              <a:srgbClr val="F85627"/>
            </a:solidFill>
            <a:prstDash val="solid"/>
          </a:ln>
          <a:effectLst>
            <a:outerShdw blurRad="1524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58784" y="1783080"/>
            <a:ext cx="265176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6FA"/>
                </a:solidFill>
              </a:rPr>
              <a:t>Mensagem final do treinamento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13648" y="2514600"/>
            <a:ext cx="246888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6FA"/>
                </a:solidFill>
              </a:rPr>
              <a:t>O </a:t>
            </a:r>
            <a:r>
              <a:rPr lang="en-US" sz="1800" dirty="0" err="1">
                <a:solidFill>
                  <a:srgbClr val="F4F6FA"/>
                </a:solidFill>
              </a:rPr>
              <a:t>SolarZap</a:t>
            </a:r>
            <a:r>
              <a:rPr lang="en-US" sz="1800" dirty="0">
                <a:solidFill>
                  <a:srgbClr val="F4F6FA"/>
                </a:solidFill>
              </a:rPr>
              <a:t> </a:t>
            </a:r>
            <a:r>
              <a:rPr lang="en-US" sz="1800" dirty="0" err="1">
                <a:solidFill>
                  <a:srgbClr val="F4F6FA"/>
                </a:solidFill>
              </a:rPr>
              <a:t>não</a:t>
            </a:r>
            <a:r>
              <a:rPr lang="en-US" sz="1800" dirty="0">
                <a:solidFill>
                  <a:srgbClr val="F4F6FA"/>
                </a:solidFill>
              </a:rPr>
              <a:t> substitui o vendedor. Ele organiza o </a:t>
            </a:r>
            <a:r>
              <a:rPr lang="en-US" sz="1800" dirty="0" err="1">
                <a:solidFill>
                  <a:srgbClr val="F4F6FA"/>
                </a:solidFill>
              </a:rPr>
              <a:t>rítmo</a:t>
            </a:r>
            <a:r>
              <a:rPr lang="en-US" sz="1800" dirty="0">
                <a:solidFill>
                  <a:srgbClr val="F4F6FA"/>
                </a:solidFill>
              </a:rPr>
              <a:t>, </a:t>
            </a:r>
            <a:r>
              <a:rPr lang="en-US" sz="1800" dirty="0" err="1">
                <a:solidFill>
                  <a:srgbClr val="F4F6FA"/>
                </a:solidFill>
              </a:rPr>
              <a:t>reduz</a:t>
            </a:r>
            <a:r>
              <a:rPr lang="en-US" sz="1800" dirty="0">
                <a:solidFill>
                  <a:srgbClr val="F4F6FA"/>
                </a:solidFill>
              </a:rPr>
              <a:t> </a:t>
            </a:r>
            <a:r>
              <a:rPr lang="en-US" sz="1800" dirty="0" err="1">
                <a:solidFill>
                  <a:srgbClr val="F4F6FA"/>
                </a:solidFill>
              </a:rPr>
              <a:t>fricção</a:t>
            </a:r>
            <a:r>
              <a:rPr lang="en-US" sz="1800" dirty="0">
                <a:solidFill>
                  <a:srgbClr val="F4F6FA"/>
                </a:solidFill>
              </a:rPr>
              <a:t> e entrega contexto para que a equipe comercial venda mais e melhor.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87968" y="4069080"/>
            <a:ext cx="2011680" cy="0"/>
          </a:xfrm>
          <a:prstGeom prst="line">
            <a:avLst/>
          </a:prstGeom>
          <a:noFill/>
          <a:ln w="12700">
            <a:solidFill>
              <a:srgbClr val="1538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558784" y="4370832"/>
            <a:ext cx="2651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5627"/>
                </a:solidFill>
              </a:rPr>
              <a:t>Boas </a:t>
            </a:r>
            <a:r>
              <a:rPr lang="en-US" sz="1550" b="1" dirty="0" err="1">
                <a:solidFill>
                  <a:srgbClr val="F85627"/>
                </a:solidFill>
              </a:rPr>
              <a:t>vendas</a:t>
            </a:r>
            <a:r>
              <a:rPr lang="en-US" sz="1550" b="1" dirty="0">
                <a:solidFill>
                  <a:srgbClr val="F85627"/>
                </a:solidFill>
              </a:rPr>
              <a:t>!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13648" y="4681728"/>
            <a:ext cx="2487168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155448"/>
            <a:ext cx="365760" cy="182880"/>
          </a:xfrm>
          <a:prstGeom prst="rect">
            <a:avLst/>
          </a:prstGeom>
          <a:ln>
            <a:solidFill/>
          </a:ln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8C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6" name="Picture 25" descr="arkan_logo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64592"/>
            <a:ext cx="1170432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2119</Words>
  <Application>Microsoft Office PowerPoint</Application>
  <PresentationFormat>Widescreen</PresentationFormat>
  <Paragraphs>247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ARKAN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Comercial ARKAN - SolarZap</dc:title>
  <dc:subject>Treinamento Comercial - SolarZap</dc:subject>
  <dc:creator>OpenAI</dc:creator>
  <cp:lastModifiedBy>Rodrigo Fernandes</cp:lastModifiedBy>
  <cp:revision>6</cp:revision>
  <dcterms:created xsi:type="dcterms:W3CDTF">2026-03-18T17:49:31Z</dcterms:created>
  <dcterms:modified xsi:type="dcterms:W3CDTF">2026-03-18T19:01:45Z</dcterms:modified>
</cp:coreProperties>
</file>