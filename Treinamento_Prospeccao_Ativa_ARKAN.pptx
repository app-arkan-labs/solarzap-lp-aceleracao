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22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 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</a:t>
            </a:r>
            <a:r>
              <a:rPr lang="en-US" sz="1600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script, CRM e gestão operacional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057400" cy="16459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</a:t>
            </a:r>
            <a:endParaRPr lang="en-US" sz="1600" dirty="0"/>
          </a:p>
        </p:txBody>
      </p:sp>
      <p:pic>
        <p:nvPicPr>
          <p:cNvPr id="7" name="Image 0" descr="/mnt/data/Arkan_Vertical_Blue@300x-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5606"/>
            <a:ext cx="4937760" cy="49353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do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10241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Mentalidade: a prospecção ativa como linha de produção de oportunidades
</a:t>
            </a: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operacional: lista → SolarZap → ligação → visita → venda
</a:t>
            </a: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de execução: horários-chave, blocos diários e metas
</a:t>
            </a: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 gestão: caderno, planilha Excel e atualização do CRM
</a:t>
            </a: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comercial: script padrão, gatekeeper, decisor e pedido de visita
</a:t>
            </a:r>
            <a:r>
              <a:rPr lang="en-US" sz="20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Acompanhamento: objeções, confirmação da visita, indicadores e cultura de vendas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914400"/>
            <a:ext cx="164592" cy="4389120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6" name="Image 1" descr="/mnt/data/arkan_bird_only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7589520" y="1099386"/>
            <a:ext cx="3840480" cy="24646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344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da prospecção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1078992" y="28803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etapa tem um objetivo específico. A ligação não precisa vender: ela precisa avançar o lead.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818120" y="39319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627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0" y="391363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Ao ligar, o objetivo é ser atendido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818120" y="43342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62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0" y="43159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Ao ser atendido, o objetivo é falar com o decisor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818120" y="47365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627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0" y="4718304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Ao falar com o decisor, o objetivo é agendar visita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818120" y="513892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627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0" y="512064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Ao agendar visita, o objetivo é fazer a visita acontecer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818120" y="55412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627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0" y="5522976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Ao realizar a visita, o objetivo é fazer a venda acontecer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operacional da prospecção ativa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Montar a lista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Google, bases próprias ou plataformas como B2BLeads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2578608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576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15768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Subir no SolarZap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715768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Importar os leads e deixar a operação pronta para trabalhar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4471416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08576" y="233172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Executar blocos de ligação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608576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Atacar os horários mais produtivos e cumprir a meta diária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6364224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0138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01384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Registrar rapidamente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501384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Usar o caderno durante a operação para não perder ritmo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8257032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941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94192" y="2331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Mover no CRM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8394192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Atualizar a etapa real do lead dentro da pipeline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10149840" y="1874520"/>
            <a:ext cx="1719072" cy="2148840"/>
          </a:xfrm>
          <a:prstGeom prst="roundRect">
            <a:avLst>
              <a:gd name="adj" fmla="val 3723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8700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287000" y="233172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Confirmar visita e avançar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10287000" y="27889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486176"/>
                </a:solidFill>
              </a:rPr>
              <a:t>Garantir presença, visita realizada e continuidade comercial</a:t>
            </a:r>
            <a:endParaRPr lang="en-US" sz="1070" dirty="0"/>
          </a:p>
        </p:txBody>
      </p:sp>
      <p:sp>
        <p:nvSpPr>
          <p:cNvPr id="32" name="Text 29"/>
          <p:cNvSpPr/>
          <p:nvPr/>
        </p:nvSpPr>
        <p:spPr>
          <a:xfrm>
            <a:off x="749808" y="4892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Regra operacional: o vendedor trabalha em velocidade no caderno e garante a verdade operacional no SolarZap.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da base e preparação da operação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Fontes e critérios mínimos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Segmentação por horário e contexto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169164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Google, bases antigas, indicações,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compradas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lead deve ter, de preferência,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 for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aplicável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telefone, cidade, segmento e origem da </a:t>
            </a:r>
            <a:r>
              <a:rPr lang="en-US" sz="1750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ou sinalizar contatos claramente inválidos antes de começar o bloco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91072" y="169164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9h–11h: forte para setores com operação administrativa e comercial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14h–16h: boa janela para conversar com quem decide e fechar agenda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Noite: útil para pizzarias, restaurantes, conveniências e operações noturnas/24h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vendedor não liga “quando dá”: ele liga no horário em que o setor atende melhor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bird_only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914400"/>
            <a:ext cx="164592" cy="4389120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6" name="Image 1" descr="/mnt/data/arkan_bird_only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7589520" y="1099386"/>
            <a:ext cx="3840480" cy="24646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344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antes de resultado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1078992" y="28803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bloco de prospecção, meta diária e revisão do CRM, a prospecção vira improviso.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51560" y="4187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F85627"/>
                </a:solidFill>
              </a:rPr>
              <a:t>Blocos recomendados</a:t>
            </a:r>
            <a:endParaRPr lang="en-US" sz="1620" dirty="0"/>
          </a:p>
        </p:txBody>
      </p:sp>
      <p:sp>
        <p:nvSpPr>
          <p:cNvPr id="10" name="Text 6"/>
          <p:cNvSpPr/>
          <p:nvPr/>
        </p:nvSpPr>
        <p:spPr>
          <a:xfrm>
            <a:off x="1051560" y="44805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08h30–09h00 | preparação da </a:t>
            </a:r>
            <a:r>
              <a:rPr lang="en-US" sz="144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4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09h00–11h00 | bloco pesado de ligação
</a:t>
            </a:r>
            <a:r>
              <a:rPr lang="en-US" sz="144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11h00–11h30 | atualização rápida do CRM e follow-ups
</a:t>
            </a:r>
            <a:r>
              <a:rPr lang="en-US" sz="144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14h00–16h00 | segundo bloco pesado de ligação
</a:t>
            </a:r>
            <a:r>
              <a:rPr lang="en-US" sz="144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16h00–17h00 | retornos, confirmações e organização do dia seguinte</a:t>
            </a:r>
            <a:endParaRPr lang="en-US" sz="1440" dirty="0"/>
          </a:p>
        </p:txBody>
      </p:sp>
      <p:sp>
        <p:nvSpPr>
          <p:cNvPr id="11" name="Shape 7"/>
          <p:cNvSpPr/>
          <p:nvPr/>
        </p:nvSpPr>
        <p:spPr>
          <a:xfrm>
            <a:off x="7315200" y="420624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13375A"/>
          </a:solidFill>
          <a:ln w="12700">
            <a:solidFill>
              <a:srgbClr val="3C567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43800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FFFFF"/>
                </a:solidFill>
              </a:rPr>
              <a:t>Fechamento diário</a:t>
            </a:r>
            <a:endParaRPr lang="en-US" sz="1520" dirty="0"/>
          </a:p>
        </p:txBody>
      </p:sp>
      <p:sp>
        <p:nvSpPr>
          <p:cNvPr id="13" name="Text 9"/>
          <p:cNvSpPr/>
          <p:nvPr/>
        </p:nvSpPr>
        <p:spPr>
          <a:xfrm>
            <a:off x="7543800" y="46908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Ligações
</a:t>
            </a:r>
            <a:r>
              <a:rPr lang="en-US" sz="132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Atendidas
</a:t>
            </a:r>
            <a:r>
              <a:rPr lang="en-US" sz="132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Decisores
</a:t>
            </a:r>
            <a:r>
              <a:rPr lang="en-US" sz="132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2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2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agendadas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2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de retorno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diárias e semanais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137160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86176"/>
                </a:solidFill>
              </a:rPr>
              <a:t>Referência inicial — ajustar conforme segmento, qualidade da lista e região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5681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60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057400" y="20299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ligações/dia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195681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20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760720" y="20299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atendidas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38160" y="182880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95681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464040" y="20299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decisores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1520" y="30632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31912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2–3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057400" y="32644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visitas agendadas/dia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34840" y="30632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9432" y="31912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300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760720" y="32644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ligações/semana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38160" y="30632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02752" y="31912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5627"/>
                </a:solidFill>
              </a:rPr>
              <a:t>10-15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464040" y="32644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visitas agendadas/semana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4754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Métricas obrigatórias: ligações, atendidas, decisores, visitas agendadas, visitas realizadas, fechamentos e faturamento.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em caderno: velocidade operacional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137160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486176"/>
                </a:solidFill>
              </a:rPr>
              <a:t>Toda semana, o vendedor monta a folha-base para acompanhar produção diária.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13232" y="1828800"/>
            <a:ext cx="566928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9385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Data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1280160" y="1828800"/>
            <a:ext cx="749808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1938528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Ligações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2029968" y="1828800"/>
            <a:ext cx="786384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48256" y="193852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Atendidas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816352" y="1828800"/>
            <a:ext cx="822960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34640" y="193852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Decisores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3639312" y="1828800"/>
            <a:ext cx="914400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193852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Visitas Ag.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4553712" y="1828800"/>
            <a:ext cx="987552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19385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Visitas Real.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541264" y="1828800"/>
            <a:ext cx="868680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9552" y="1938528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Fechamentos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6409944" y="1828800"/>
            <a:ext cx="914400" cy="402336"/>
          </a:xfrm>
          <a:prstGeom prst="rect">
            <a:avLst/>
          </a:prstGeom>
          <a:solidFill>
            <a:srgbClr val="0D2C4B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8232" y="193852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Faturamento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713232" y="2231136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234086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7324D"/>
                </a:solidFill>
              </a:rPr>
              <a:t>Seg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1280160" y="2231136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29968" y="2231136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16352" y="223113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39312" y="223113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53712" y="2231136"/>
            <a:ext cx="9875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41264" y="223113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9944" y="223113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3232" y="2578608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2688336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7324D"/>
                </a:solidFill>
              </a:rPr>
              <a:t>Ter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1280160" y="2578608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029968" y="2578608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16352" y="2578608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39312" y="2578608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53712" y="2578608"/>
            <a:ext cx="9875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41264" y="2578608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09944" y="2578608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" y="2926080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" y="303580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7324D"/>
                </a:solidFill>
              </a:rPr>
              <a:t>Qua</a:t>
            </a:r>
            <a:endParaRPr lang="en-US" sz="1020" dirty="0"/>
          </a:p>
        </p:txBody>
      </p:sp>
      <p:sp>
        <p:nvSpPr>
          <p:cNvPr id="45" name="Shape 42"/>
          <p:cNvSpPr/>
          <p:nvPr/>
        </p:nvSpPr>
        <p:spPr>
          <a:xfrm>
            <a:off x="1280160" y="2926080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29968" y="2926080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816352" y="292608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639312" y="292608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53712" y="2926080"/>
            <a:ext cx="9875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41264" y="292608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09944" y="292608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3232" y="3273552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31520" y="338328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7324D"/>
                </a:solidFill>
              </a:rPr>
              <a:t>Qui</a:t>
            </a:r>
            <a:endParaRPr lang="en-US" sz="1020" dirty="0"/>
          </a:p>
        </p:txBody>
      </p:sp>
      <p:sp>
        <p:nvSpPr>
          <p:cNvPr id="54" name="Shape 51"/>
          <p:cNvSpPr/>
          <p:nvPr/>
        </p:nvSpPr>
        <p:spPr>
          <a:xfrm>
            <a:off x="1280160" y="3273552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029968" y="3273552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816352" y="327355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639312" y="327355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53712" y="3273552"/>
            <a:ext cx="9875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541264" y="327355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409944" y="327355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3232" y="3621024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31520" y="37307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7324D"/>
                </a:solidFill>
              </a:rPr>
              <a:t>Sex</a:t>
            </a:r>
            <a:endParaRPr lang="en-US" sz="1020" dirty="0"/>
          </a:p>
        </p:txBody>
      </p:sp>
      <p:sp>
        <p:nvSpPr>
          <p:cNvPr id="63" name="Shape 60"/>
          <p:cNvSpPr/>
          <p:nvPr/>
        </p:nvSpPr>
        <p:spPr>
          <a:xfrm>
            <a:off x="1280160" y="3621024"/>
            <a:ext cx="749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029968" y="3621024"/>
            <a:ext cx="7863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816352" y="3621024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639312" y="362102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53712" y="3621024"/>
            <a:ext cx="9875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41264" y="362102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409944" y="362102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41080" y="18745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caderno é a ferramenta de rapidez durante o bloco de ligação
</a:t>
            </a:r>
            <a:r>
              <a:rPr lang="en-US" sz="15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 do bloco, consolidar o que aconteceu e atualizar o SolarZap
</a:t>
            </a:r>
            <a:r>
              <a:rPr lang="en-US" sz="15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foi registrado no caderno e no CRM não entra na gestão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Caderno, Excel e SolarZap: papéis diferentes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1947672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627"/>
                </a:solidFill>
              </a:rPr>
              <a:t>Caderno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267712" y="2148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Velocidade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10712" y="2093976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486176"/>
                </a:solidFill>
              </a:rPr>
              <a:t>Registrar chamadas e resultados enquanto o vendedor está em execução.</a:t>
            </a:r>
            <a:endParaRPr lang="en-US" sz="1530" dirty="0"/>
          </a:p>
        </p:txBody>
      </p:sp>
      <p:sp>
        <p:nvSpPr>
          <p:cNvPr id="12" name="Shape 9"/>
          <p:cNvSpPr/>
          <p:nvPr/>
        </p:nvSpPr>
        <p:spPr>
          <a:xfrm>
            <a:off x="713232" y="3273552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627"/>
                </a:solidFill>
              </a:rPr>
              <a:t>Excel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267712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Gestão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10712" y="3419856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486176"/>
                </a:solidFill>
              </a:rPr>
              <a:t>Consolidar histórico, comparar semanas, calcular taxas e acompanhar o time.</a:t>
            </a:r>
            <a:endParaRPr lang="en-US" sz="1530" dirty="0"/>
          </a:p>
        </p:txBody>
      </p:sp>
      <p:sp>
        <p:nvSpPr>
          <p:cNvPr id="16" name="Shape 13"/>
          <p:cNvSpPr/>
          <p:nvPr/>
        </p:nvSpPr>
        <p:spPr>
          <a:xfrm>
            <a:off x="713232" y="4599432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5627"/>
                </a:solidFill>
              </a:rPr>
              <a:t>SolarZap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267712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Operação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410712" y="4745736"/>
            <a:ext cx="7543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486176"/>
                </a:solidFill>
              </a:rPr>
              <a:t>Refletir a verdade do lead, movimentar a pipeline e dar continuidade comercial.</a:t>
            </a:r>
            <a:endParaRPr lang="en-US" sz="15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164592" cy="4389120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2344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no SolarZap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8992" y="2926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lead precisa estar na etapa em que ele realmente está — nem adiantado, nem parado.</a:t>
            </a:r>
            <a:endParaRPr lang="en-US" sz="1800" dirty="0"/>
          </a:p>
        </p:txBody>
      </p:sp>
      <p:pic>
        <p:nvPicPr>
          <p:cNvPr id="7" name="Image 0" descr="/mnt/data/arkan_bird_only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626692" y="365760"/>
            <a:ext cx="783657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31152" y="1417320"/>
            <a:ext cx="2057400" cy="438912"/>
          </a:xfrm>
          <a:prstGeom prst="rect">
            <a:avLst/>
          </a:prstGeom>
          <a:solidFill>
            <a:srgbClr val="F85627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58584" y="15453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</a:rPr>
              <a:t>Evento na prospecção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988552" y="1417320"/>
            <a:ext cx="2423160" cy="438912"/>
          </a:xfrm>
          <a:prstGeom prst="rect">
            <a:avLst/>
          </a:prstGeom>
          <a:solidFill>
            <a:srgbClr val="F85627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15984" y="1545336"/>
            <a:ext cx="2368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</a:rPr>
              <a:t>Etapa sugerida no CRM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6931152" y="1856232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88552" y="1856232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6872" y="19933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Lead importado da lista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9034272" y="198424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Novo Lead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931152" y="2331720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88552" y="2331720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76872" y="246888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 err="1">
                <a:solidFill>
                  <a:srgbClr val="FFFFFF"/>
                </a:solidFill>
              </a:rPr>
              <a:t>Atendeu</a:t>
            </a:r>
            <a:r>
              <a:rPr lang="en-US" sz="980" dirty="0">
                <a:solidFill>
                  <a:srgbClr val="FFFFFF"/>
                </a:solidFill>
              </a:rPr>
              <a:t>?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9034272" y="245973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Respondeu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6931152" y="2807208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88552" y="2807208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76872" y="294436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 err="1">
                <a:solidFill>
                  <a:srgbClr val="FFFFFF"/>
                </a:solidFill>
              </a:rPr>
              <a:t>Falou</a:t>
            </a:r>
            <a:r>
              <a:rPr lang="en-US" sz="980" dirty="0">
                <a:solidFill>
                  <a:srgbClr val="FFFFFF"/>
                </a:solidFill>
              </a:rPr>
              <a:t> com o </a:t>
            </a:r>
            <a:r>
              <a:rPr lang="en-US" sz="980" dirty="0" err="1">
                <a:solidFill>
                  <a:srgbClr val="FFFFFF"/>
                </a:solidFill>
              </a:rPr>
              <a:t>decisor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9034272" y="29352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 err="1">
                <a:solidFill>
                  <a:srgbClr val="FFFFFF"/>
                </a:solidFill>
              </a:rPr>
              <a:t>Chamada</a:t>
            </a:r>
            <a:r>
              <a:rPr lang="en-US" sz="980" dirty="0">
                <a:solidFill>
                  <a:srgbClr val="FFFFFF"/>
                </a:solidFill>
              </a:rPr>
              <a:t> Realizada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931152" y="3282696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88552" y="3282696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76872" y="341985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Ligação virou visita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9034272" y="3410712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Visita Agendada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931152" y="3758184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88552" y="3758184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76872" y="389534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Visita aconteceu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9034272" y="388620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Visita Realizada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6931152" y="4233672"/>
            <a:ext cx="205740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88552" y="4233672"/>
            <a:ext cx="2423160" cy="475488"/>
          </a:xfrm>
          <a:prstGeom prst="rect">
            <a:avLst/>
          </a:prstGeom>
          <a:solidFill>
            <a:srgbClr val="16395D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76872" y="437083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Processo comercial segue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9034272" y="436168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</a:rPr>
              <a:t>Aguardando Proposta → Negociação → Contrato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padrão: abertura e condução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Estrutura da ligação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Fala-base sugerida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leve e identificação da empresa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 curto: “quero te fazer uma pergunta rápida”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com a realidade da empresa e custo de energia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para descobrir quem decide
</a:t>
            </a:r>
            <a:r>
              <a:rPr lang="en-US" sz="175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Convite objetivo para a visita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91072" y="1737360"/>
            <a:ext cx="50292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“Bom dia, tudo bem? Falo com a [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]?</a:t>
            </a:r>
          </a:p>
          <a:p>
            <a:pPr marL="0" indent="0">
              <a:buNone/>
            </a:pPr>
            <a:endParaRPr lang="en-US" sz="1630" b="1" dirty="0">
              <a:solidFill>
                <a:srgbClr val="17324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o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
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Prazer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 aqui é o [nome]. Eu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estava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pesquisando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[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e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encontrei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Eu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queria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 fazer uma pergunta bem rápida:
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vocês têm um gasto relevante com energia elétrica aí na empresa?
Show [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]!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trabalhamos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solar e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conseguimos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praticamente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zerar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30" b="1" dirty="0" err="1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r>
              <a:rPr lang="en-US" sz="163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630" dirty="0" err="1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Estou</a:t>
            </a:r>
            <a:r>
              <a:rPr lang="en-US" sz="1630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falando com algumas empresas para identificar onde faz sentido uma visita rápida de análise, sem compromisso. Quem normalmente cuida dessa parte aí com vocês?”</a:t>
            </a:r>
            <a:endParaRPr lang="en-US" sz="1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Gatekeeper, decisor e pedido de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Quando quem atendeu não decide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Quando você fala com o decisor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1783080"/>
            <a:ext cx="512064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</a:rPr>
              <a:t>“Perfeito. E quem costuma olhar isso por aí?”
</a:t>
            </a:r>
            <a:r>
              <a:rPr lang="en-US" sz="1640" dirty="0">
                <a:solidFill>
                  <a:srgbClr val="486176"/>
                </a:solidFill>
              </a:rPr>
              <a:t>“Ela está disponível agora?”
Se não estiver: “Sem problema. Qual o melhor horário para eu falar com ela?”</a:t>
            </a:r>
            <a:endParaRPr lang="en-US" sz="1640" dirty="0"/>
          </a:p>
        </p:txBody>
      </p:sp>
      <p:sp>
        <p:nvSpPr>
          <p:cNvPr id="11" name="Text 8"/>
          <p:cNvSpPr/>
          <p:nvPr/>
        </p:nvSpPr>
        <p:spPr>
          <a:xfrm>
            <a:off x="6291072" y="1783080"/>
            <a:ext cx="512064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</a:rPr>
              <a:t>“Hoje vocês já chegaram a avaliar energia solar ou alguma alternativa para reduzir esse custo?”
</a:t>
            </a:r>
            <a:r>
              <a:rPr lang="en-US" sz="1640" dirty="0">
                <a:solidFill>
                  <a:srgbClr val="486176"/>
                </a:solidFill>
              </a:rPr>
              <a:t>“O que fazemos é uma visita rápida para entender a operação e </a:t>
            </a:r>
            <a:r>
              <a:rPr lang="en-US" sz="1640" dirty="0" err="1">
                <a:solidFill>
                  <a:srgbClr val="486176"/>
                </a:solidFill>
              </a:rPr>
              <a:t>montar</a:t>
            </a:r>
            <a:r>
              <a:rPr lang="en-US" sz="1640" dirty="0">
                <a:solidFill>
                  <a:srgbClr val="486176"/>
                </a:solidFill>
              </a:rPr>
              <a:t> o </a:t>
            </a:r>
            <a:r>
              <a:rPr lang="en-US" sz="1640" dirty="0" err="1">
                <a:solidFill>
                  <a:srgbClr val="486176"/>
                </a:solidFill>
              </a:rPr>
              <a:t>melhor</a:t>
            </a:r>
            <a:r>
              <a:rPr lang="en-US" sz="1640" dirty="0">
                <a:solidFill>
                  <a:srgbClr val="486176"/>
                </a:solidFill>
              </a:rPr>
              <a:t> </a:t>
            </a:r>
            <a:r>
              <a:rPr lang="en-US" sz="1640" dirty="0" err="1">
                <a:solidFill>
                  <a:srgbClr val="486176"/>
                </a:solidFill>
              </a:rPr>
              <a:t>projeto</a:t>
            </a:r>
            <a:r>
              <a:rPr lang="en-US" sz="1640" dirty="0">
                <a:solidFill>
                  <a:srgbClr val="486176"/>
                </a:solidFill>
              </a:rPr>
              <a:t> </a:t>
            </a:r>
            <a:r>
              <a:rPr lang="en-US" sz="1640" dirty="0" err="1">
                <a:solidFill>
                  <a:srgbClr val="486176"/>
                </a:solidFill>
              </a:rPr>
              <a:t>especialmente</a:t>
            </a:r>
            <a:r>
              <a:rPr lang="en-US" sz="1640" dirty="0">
                <a:solidFill>
                  <a:srgbClr val="486176"/>
                </a:solidFill>
              </a:rPr>
              <a:t> para </a:t>
            </a:r>
            <a:r>
              <a:rPr lang="en-US" sz="1640" dirty="0" err="1">
                <a:solidFill>
                  <a:srgbClr val="486176"/>
                </a:solidFill>
              </a:rPr>
              <a:t>vocês</a:t>
            </a:r>
            <a:r>
              <a:rPr lang="en-US" sz="1640" dirty="0">
                <a:solidFill>
                  <a:srgbClr val="486176"/>
                </a:solidFill>
              </a:rPr>
              <a:t>.”
</a:t>
            </a:r>
            <a:r>
              <a:rPr lang="en-US" sz="1640" b="1" dirty="0">
                <a:solidFill>
                  <a:srgbClr val="17324D"/>
                </a:solidFill>
              </a:rPr>
              <a:t>“Faz mais sentido para você no </a:t>
            </a:r>
            <a:r>
              <a:rPr lang="en-US" sz="1640" b="1" dirty="0" err="1">
                <a:solidFill>
                  <a:srgbClr val="17324D"/>
                </a:solidFill>
              </a:rPr>
              <a:t>dia</a:t>
            </a:r>
            <a:r>
              <a:rPr lang="en-US" sz="1640" b="1" dirty="0">
                <a:solidFill>
                  <a:srgbClr val="17324D"/>
                </a:solidFill>
              </a:rPr>
              <a:t> X, as X horas ou no </a:t>
            </a:r>
            <a:r>
              <a:rPr lang="en-US" sz="1640" b="1" dirty="0" err="1">
                <a:solidFill>
                  <a:srgbClr val="17324D"/>
                </a:solidFill>
              </a:rPr>
              <a:t>dia</a:t>
            </a:r>
            <a:r>
              <a:rPr lang="en-US" sz="1640" b="1" dirty="0">
                <a:solidFill>
                  <a:srgbClr val="17324D"/>
                </a:solidFill>
              </a:rPr>
              <a:t> Y, as Y horas?”</a:t>
            </a:r>
            <a:endParaRPr lang="en-US" sz="16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mais comuns e resposta curta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" y="1572768"/>
            <a:ext cx="10652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5627"/>
                </a:solidFill>
              </a:rPr>
              <a:t>“Me manda no WhatsApp”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108960" y="1719072"/>
            <a:ext cx="8113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7324D"/>
                </a:solidFill>
              </a:rPr>
              <a:t>“Eu </a:t>
            </a:r>
            <a:r>
              <a:rPr lang="en-US" sz="1480" dirty="0" err="1">
                <a:solidFill>
                  <a:srgbClr val="17324D"/>
                </a:solidFill>
              </a:rPr>
              <a:t>até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poderia</a:t>
            </a:r>
            <a:r>
              <a:rPr lang="en-US" sz="1480" dirty="0">
                <a:solidFill>
                  <a:srgbClr val="17324D"/>
                </a:solidFill>
              </a:rPr>
              <a:t> mandar, mas </a:t>
            </a:r>
            <a:r>
              <a:rPr lang="en-US" sz="1480" dirty="0" err="1">
                <a:solidFill>
                  <a:srgbClr val="17324D"/>
                </a:solidFill>
              </a:rPr>
              <a:t>nós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trabalhamos</a:t>
            </a:r>
            <a:r>
              <a:rPr lang="en-US" sz="1480" dirty="0">
                <a:solidFill>
                  <a:srgbClr val="17324D"/>
                </a:solidFill>
              </a:rPr>
              <a:t> com </a:t>
            </a:r>
            <a:r>
              <a:rPr lang="en-US" sz="1480" dirty="0" err="1">
                <a:solidFill>
                  <a:srgbClr val="17324D"/>
                </a:solidFill>
              </a:rPr>
              <a:t>projetos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realmente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personalizados</a:t>
            </a:r>
            <a:r>
              <a:rPr lang="en-US" sz="1480" dirty="0">
                <a:solidFill>
                  <a:srgbClr val="17324D"/>
                </a:solidFill>
              </a:rPr>
              <a:t>, </a:t>
            </a:r>
            <a:r>
              <a:rPr lang="en-US" sz="1480" dirty="0" err="1">
                <a:solidFill>
                  <a:srgbClr val="17324D"/>
                </a:solidFill>
              </a:rPr>
              <a:t>pra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você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não</a:t>
            </a:r>
            <a:r>
              <a:rPr lang="en-US" sz="1480" dirty="0">
                <a:solidFill>
                  <a:srgbClr val="17324D"/>
                </a:solidFill>
              </a:rPr>
              <a:t> ser </a:t>
            </a:r>
            <a:r>
              <a:rPr lang="en-US" sz="1480" dirty="0" err="1">
                <a:solidFill>
                  <a:srgbClr val="17324D"/>
                </a:solidFill>
              </a:rPr>
              <a:t>pego</a:t>
            </a:r>
            <a:r>
              <a:rPr lang="en-US" sz="1480" dirty="0">
                <a:solidFill>
                  <a:srgbClr val="17324D"/>
                </a:solidFill>
              </a:rPr>
              <a:t> de </a:t>
            </a:r>
            <a:r>
              <a:rPr lang="en-US" sz="1480" dirty="0" err="1">
                <a:solidFill>
                  <a:srgbClr val="17324D"/>
                </a:solidFill>
              </a:rPr>
              <a:t>surpresa</a:t>
            </a:r>
            <a:r>
              <a:rPr lang="en-US" sz="1480" dirty="0">
                <a:solidFill>
                  <a:srgbClr val="17324D"/>
                </a:solidFill>
              </a:rPr>
              <a:t>... </a:t>
            </a:r>
            <a:r>
              <a:rPr lang="en-US" sz="1480" dirty="0" err="1">
                <a:solidFill>
                  <a:srgbClr val="17324D"/>
                </a:solidFill>
              </a:rPr>
              <a:t>Precisamos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entender</a:t>
            </a:r>
            <a:r>
              <a:rPr lang="en-US" sz="1480" dirty="0">
                <a:solidFill>
                  <a:srgbClr val="17324D"/>
                </a:solidFill>
              </a:rPr>
              <a:t> a </a:t>
            </a:r>
            <a:r>
              <a:rPr lang="en-US" sz="1480" dirty="0" err="1">
                <a:solidFill>
                  <a:srgbClr val="17324D"/>
                </a:solidFill>
              </a:rPr>
              <a:t>sua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necessidade</a:t>
            </a:r>
            <a:r>
              <a:rPr lang="en-US" sz="1480" dirty="0">
                <a:solidFill>
                  <a:srgbClr val="17324D"/>
                </a:solidFill>
              </a:rPr>
              <a:t> no </a:t>
            </a:r>
            <a:r>
              <a:rPr lang="en-US" sz="1480" dirty="0" err="1">
                <a:solidFill>
                  <a:srgbClr val="17324D"/>
                </a:solidFill>
              </a:rPr>
              <a:t>curto</a:t>
            </a:r>
            <a:r>
              <a:rPr lang="en-US" sz="1480" dirty="0">
                <a:solidFill>
                  <a:srgbClr val="17324D"/>
                </a:solidFill>
              </a:rPr>
              <a:t>, </a:t>
            </a:r>
            <a:r>
              <a:rPr lang="en-US" sz="1480" dirty="0" err="1">
                <a:solidFill>
                  <a:srgbClr val="17324D"/>
                </a:solidFill>
              </a:rPr>
              <a:t>médio</a:t>
            </a:r>
            <a:r>
              <a:rPr lang="en-US" sz="1480" dirty="0">
                <a:solidFill>
                  <a:srgbClr val="17324D"/>
                </a:solidFill>
              </a:rPr>
              <a:t> e </a:t>
            </a:r>
            <a:r>
              <a:rPr lang="en-US" sz="1480" dirty="0" err="1">
                <a:solidFill>
                  <a:srgbClr val="17324D"/>
                </a:solidFill>
              </a:rPr>
              <a:t>longo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prazo</a:t>
            </a:r>
            <a:r>
              <a:rPr lang="en-US" sz="1480" dirty="0">
                <a:solidFill>
                  <a:srgbClr val="17324D"/>
                </a:solidFill>
              </a:rPr>
              <a:t>, e a </a:t>
            </a:r>
            <a:r>
              <a:rPr lang="en-US" sz="1480" dirty="0" err="1">
                <a:solidFill>
                  <a:srgbClr val="17324D"/>
                </a:solidFill>
              </a:rPr>
              <a:t>visita</a:t>
            </a:r>
            <a:r>
              <a:rPr lang="en-US" sz="1480" dirty="0">
                <a:solidFill>
                  <a:srgbClr val="17324D"/>
                </a:solidFill>
              </a:rPr>
              <a:t> é ideal </a:t>
            </a:r>
            <a:r>
              <a:rPr lang="en-US" sz="1480" dirty="0" err="1">
                <a:solidFill>
                  <a:srgbClr val="17324D"/>
                </a:solidFill>
              </a:rPr>
              <a:t>pra</a:t>
            </a:r>
            <a:r>
              <a:rPr lang="en-US" sz="1480" dirty="0">
                <a:solidFill>
                  <a:srgbClr val="17324D"/>
                </a:solidFill>
              </a:rPr>
              <a:t> </a:t>
            </a:r>
            <a:r>
              <a:rPr lang="en-US" sz="1480" dirty="0" err="1">
                <a:solidFill>
                  <a:srgbClr val="17324D"/>
                </a:solidFill>
              </a:rPr>
              <a:t>isso</a:t>
            </a:r>
            <a:r>
              <a:rPr lang="en-US" sz="1480" dirty="0">
                <a:solidFill>
                  <a:srgbClr val="17324D"/>
                </a:solidFill>
              </a:rPr>
              <a:t>.”</a:t>
            </a:r>
            <a:endParaRPr lang="en-US" sz="1480" dirty="0"/>
          </a:p>
        </p:txBody>
      </p:sp>
      <p:sp>
        <p:nvSpPr>
          <p:cNvPr id="11" name="Shape 8"/>
          <p:cNvSpPr/>
          <p:nvPr/>
        </p:nvSpPr>
        <p:spPr>
          <a:xfrm>
            <a:off x="777240" y="2670048"/>
            <a:ext cx="10652760" cy="987552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5627"/>
                </a:solidFill>
              </a:rPr>
              <a:t>“Agora estou ocupado”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108960" y="2816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7324D"/>
                </a:solidFill>
              </a:rPr>
              <a:t>“Tranquilo. Qual horário fica melhor para eu te retornar, ainda hoje ou amanhã?”</a:t>
            </a:r>
            <a:endParaRPr lang="en-US" sz="1480" dirty="0"/>
          </a:p>
        </p:txBody>
      </p:sp>
      <p:sp>
        <p:nvSpPr>
          <p:cNvPr id="14" name="Shape 11"/>
          <p:cNvSpPr/>
          <p:nvPr/>
        </p:nvSpPr>
        <p:spPr>
          <a:xfrm>
            <a:off x="777240" y="3767328"/>
            <a:ext cx="10652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5627"/>
                </a:solidFill>
              </a:rPr>
              <a:t>“Não tenho interesse”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108960" y="39136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7324D"/>
                </a:solidFill>
              </a:rPr>
              <a:t>“Sem problema. Só para eu não insistir errado: vocês já resolveram isso ou nunca chegou a fazer sentido avaliar?”</a:t>
            </a:r>
            <a:endParaRPr lang="en-US" sz="1480" dirty="0"/>
          </a:p>
        </p:txBody>
      </p:sp>
      <p:sp>
        <p:nvSpPr>
          <p:cNvPr id="17" name="Shape 14"/>
          <p:cNvSpPr/>
          <p:nvPr/>
        </p:nvSpPr>
        <p:spPr>
          <a:xfrm>
            <a:off x="777240" y="4864608"/>
            <a:ext cx="10652760" cy="987552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5627"/>
                </a:solidFill>
              </a:rPr>
              <a:t>“Já temos energia solar”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108960" y="50109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7324D"/>
                </a:solidFill>
              </a:rPr>
              <a:t>“Perfeito. Vocês estão 100% satisfeitos com o que foi feito ou ainda existe algum ponto abaixo do esperado?”</a:t>
            </a:r>
            <a:endParaRPr lang="en-US" sz="1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bird_only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914400"/>
            <a:ext cx="164592" cy="4389120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6" name="Image 1" descr="/mnt/data/arkan_bird_only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7589520" y="1099386"/>
            <a:ext cx="3840480" cy="24646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344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visita também vende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1078992" y="28803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não basta. O vendedor precisa garantir presença e reduzir no-show.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97280" y="3840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5627"/>
                </a:solidFill>
              </a:rPr>
              <a:t>Regra de confirmação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51560" y="4160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mesmo dia do agendamento
</a:t>
            </a:r>
            <a:r>
              <a:rPr lang="en-US" sz="16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 anterior à visita
</a:t>
            </a:r>
            <a:r>
              <a:rPr lang="en-US" sz="160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próprio dia, antes do horário combinado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903720" y="3822192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14355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50608" y="40416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Script simples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50608" y="4389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D8E2EC"/>
                </a:solidFill>
              </a:rPr>
              <a:t>“[Nome], tudo certo? Passando para confirmar nossa visita de [dia], às [horário]. Segue confirmado?”</a:t>
            </a:r>
            <a:endParaRPr lang="en-US" sz="1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rotina de gestão comercial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078992"/>
            <a:ext cx="1005840" cy="7315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5" name="Image 0" descr="/mnt/data/arkan_bird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Taxas que precisam ser acompanhadas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6364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Ritual diário do gestor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9808" y="1719072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atendimento = atendidas ÷ ligações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decisor = decisores ÷ atendidas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agendamento = visitas agendadas ÷ decisores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realização = visitas realizadas ÷ visitas agendadas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fechamento = fechamentos ÷ visitas realizadas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6291072" y="1719072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números do dia anterior e pendências de retorno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quem está abaixo da meta de ligações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agenda de visitas confirmadas e em risco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atualização fiel do CRM
</a:t>
            </a:r>
            <a:r>
              <a:rPr lang="en-US" sz="166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6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a semana olhando gargalo: lista, abertura, decisor, agenda ou visita</a:t>
            </a:r>
            <a:endParaRPr lang="en-US" sz="1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kan_bird_only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565549" y="384048"/>
            <a:ext cx="997381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58368" y="914400"/>
            <a:ext cx="164592" cy="4389120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  <p:pic>
        <p:nvPicPr>
          <p:cNvPr id="6" name="Image 1" descr="/mnt/data/arkan_bird_only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7589520" y="1099386"/>
            <a:ext cx="3840480" cy="24646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344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comercial que precisa ser instalada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1078992" y="28803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5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prospecta depende da sorte. Quem registra e mede cria previsibilidade.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97280" y="3840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5627"/>
                </a:solidFill>
              </a:rPr>
              <a:t>Não negociáveis do time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51560" y="4160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diária visível e cobrada
</a:t>
            </a:r>
            <a:r>
              <a:rPr lang="en-US" sz="158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fixos de prospecção
</a:t>
            </a:r>
            <a:r>
              <a:rPr lang="en-US" sz="158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no caderno e no SolarZap
</a:t>
            </a:r>
            <a:r>
              <a:rPr lang="en-US" sz="158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parado não existe: toda etapa precisa refletir a realidade
</a:t>
            </a:r>
            <a:r>
              <a:rPr lang="en-US" sz="158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 é rotina, não evento esporádico</a:t>
            </a:r>
            <a:endParaRPr lang="en-US" sz="1580" dirty="0"/>
          </a:p>
        </p:txBody>
      </p:sp>
      <p:sp>
        <p:nvSpPr>
          <p:cNvPr id="11" name="Shape 7"/>
          <p:cNvSpPr/>
          <p:nvPr/>
        </p:nvSpPr>
        <p:spPr>
          <a:xfrm>
            <a:off x="7315200" y="388620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43558"/>
          </a:solidFill>
          <a:ln w="12700">
            <a:solidFill>
              <a:srgbClr val="3551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43800" y="4096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FFFFFF"/>
                </a:solidFill>
              </a:rPr>
              <a:t>Frases-chave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43800" y="44074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ligação não precisa vender. Ela precisa avançar.
</a:t>
            </a:r>
            <a:r>
              <a:rPr lang="en-US" sz="137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mede, não melhora.
</a:t>
            </a:r>
            <a:r>
              <a:rPr lang="en-US" sz="1370" b="1" dirty="0">
                <a:solidFill>
                  <a:srgbClr val="F8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3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registra, perde lead.</a:t>
            </a:r>
            <a:endParaRPr lang="en-US" sz="13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C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| Prospecção Ativa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pic>
        <p:nvPicPr>
          <p:cNvPr id="4" name="Image 0" descr="/mnt/data/arkan_bird_only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7896726" y="1234440"/>
            <a:ext cx="3134627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097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5627"/>
                </a:solidFill>
              </a:rPr>
              <a:t>Resumo do módulo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Lista certa.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Bloco certo.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Registro certo.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CRM certo.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Visita certa.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41248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2EC"/>
                </a:solidFill>
              </a:rPr>
              <a:t>O papel do vendedor é transformar volume em agenda, agenda em visita e visita em venda.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349240"/>
            <a:ext cx="2651760" cy="164592"/>
          </a:xfrm>
          <a:prstGeom prst="rect">
            <a:avLst/>
          </a:prstGeom>
          <a:solidFill>
            <a:srgbClr val="F85627"/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1600</Words>
  <Application>Microsoft Office PowerPoint</Application>
  <PresentationFormat>Widescreen</PresentationFormat>
  <Paragraphs>202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de Prospecção Ativa</dc:title>
  <dc:subject>Treinamento de Prospecção Ativa - ARKAN</dc:subject>
  <dc:creator>OpenAI</dc:creator>
  <cp:lastModifiedBy>Rodrigo Fernandes</cp:lastModifiedBy>
  <cp:revision>5</cp:revision>
  <dcterms:created xsi:type="dcterms:W3CDTF">2026-03-18T19:14:07Z</dcterms:created>
  <dcterms:modified xsi:type="dcterms:W3CDTF">2026-03-18T19:55:30Z</dcterms:modified>
</cp:coreProperties>
</file>