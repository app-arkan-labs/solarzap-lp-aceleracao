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614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KAN_MASTER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804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completo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86384" y="1170432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Ativação de Base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E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ARKAN para organizar a base, destravar o funil, recuperar oportunidades, gerar prova social e transformar clientes ativos em promotores da marca.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173A5F"/>
          </a:solidFill>
          <a:ln w="12700">
            <a:solidFill>
              <a:srgbClr val="4161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507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3977640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173A5F"/>
          </a:solidFill>
          <a:ln w="12700">
            <a:solidFill>
              <a:srgbClr val="4161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0507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3977640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173A5F"/>
          </a:solidFill>
          <a:ln w="12700">
            <a:solidFill>
              <a:srgbClr val="4161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40507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3977640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173A5F"/>
          </a:solidFill>
          <a:ln w="12700">
            <a:solidFill>
              <a:srgbClr val="4161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40507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</a:t>
            </a:r>
            <a:endParaRPr lang="en-US" sz="1050" dirty="0"/>
          </a:p>
        </p:txBody>
      </p:sp>
      <p:pic>
        <p:nvPicPr>
          <p:cNvPr id="15" name="Image 0" descr="/mnt/data/arkan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74809"/>
            <a:ext cx="4892040" cy="317122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04672" y="60899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084832" y="608990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de treinamento comercial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este programa vem primeiro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já existente é o canal mais rápido para gerar agenda, inteligência comercial e fechamento.</a:t>
            </a:r>
            <a:endParaRPr lang="en-US" sz="1150" dirty="0"/>
          </a:p>
        </p:txBody>
      </p:sp>
      <p:pic>
        <p:nvPicPr>
          <p:cNvPr id="6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8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" y="1691640"/>
            <a:ext cx="3401568" cy="363931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1847088"/>
            <a:ext cx="384048" cy="384048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8653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89888" y="1837944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imediato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2331720"/>
            <a:ext cx="30723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depender só de lead novo, a operação reaproveita contatos que já demonstraram interesse e acelera o topo, meio e fundo do funil.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89120" y="1691640"/>
            <a:ext cx="3401568" cy="363931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53712" y="1847088"/>
            <a:ext cx="384048" cy="384048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53712" y="18653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0" y="1837944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real de mercado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53712" y="2331720"/>
            <a:ext cx="30723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reativações mostram onde a venda trava: preço, timing, prioridade, insegurança, tomada de decisão ou falha de follow-up.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28432" y="1691640"/>
            <a:ext cx="3401568" cy="363931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93024" y="1847088"/>
            <a:ext cx="384048" cy="384048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193024" y="18653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68512" y="1837944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 estratégico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93024" y="2331720"/>
            <a:ext cx="30723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 deixam de ser apenas carteira atendida e passam a gerar prova social, depoimentos e indicações qualificadas.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49808" y="5715000"/>
            <a:ext cx="10698480" cy="0"/>
          </a:xfrm>
          <a:prstGeom prst="line">
            <a:avLst/>
          </a:prstGeom>
          <a:noFill/>
          <a:ln w="12700">
            <a:solidFill>
              <a:srgbClr val="F756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672" y="58064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central: nenhum contato pode ficar sem categoria, responsável, próxima ação e data da próxima ação.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Programa de Ativação de 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etapas simples, sequenciais e operáveis pelo time comercial.</a:t>
            </a:r>
            <a:endParaRPr lang="en-US" sz="1150" dirty="0"/>
          </a:p>
        </p:txBody>
      </p:sp>
      <p:pic>
        <p:nvPicPr>
          <p:cNvPr id="5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E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4622" y="1764792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4622" y="1764792"/>
            <a:ext cx="2084832" cy="109728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7502" y="1965960"/>
            <a:ext cx="420624" cy="420624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7502" y="201168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9214" y="253288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a base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69214" y="3099816"/>
            <a:ext cx="17739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de WhatsApp, CRM, planilhas antigas, propostas, visitas e clientes ativos.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535174" y="2999232"/>
            <a:ext cx="109728" cy="292608"/>
          </a:xfrm>
          <a:prstGeom prst="chevron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18054" y="1764792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18054" y="1764792"/>
            <a:ext cx="2084832" cy="109728"/>
          </a:xfrm>
          <a:prstGeom prst="rect">
            <a:avLst/>
          </a:prstGeom>
          <a:solidFill>
            <a:srgbClr val="335474"/>
          </a:solidFill>
          <a:ln w="12700">
            <a:solidFill>
              <a:srgbClr val="33547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00934" y="1965960"/>
            <a:ext cx="420624" cy="420624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00934" y="201168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882646" y="253288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Planilhar e limpar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882646" y="3099816"/>
            <a:ext cx="17739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base única com dados essenciais, histórico resumido e status atual.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848606" y="2999232"/>
            <a:ext cx="109728" cy="292608"/>
          </a:xfrm>
          <a:prstGeom prst="chevron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31486" y="1764792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31486" y="1764792"/>
            <a:ext cx="2084832" cy="109728"/>
          </a:xfrm>
          <a:prstGeom prst="rect">
            <a:avLst/>
          </a:prstGeom>
          <a:solidFill>
            <a:srgbClr val="335474"/>
          </a:solidFill>
          <a:ln w="12700">
            <a:solidFill>
              <a:srgbClr val="33547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14366" y="1965960"/>
            <a:ext cx="420624" cy="420624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14366" y="201168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196078" y="253288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Categorizar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196078" y="3099816"/>
            <a:ext cx="17739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por estágio comercial e por objetivo da reativação.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162038" y="2999232"/>
            <a:ext cx="109728" cy="292608"/>
          </a:xfrm>
          <a:prstGeom prst="chevron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44918" y="1764792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44918" y="1764792"/>
            <a:ext cx="2084832" cy="109728"/>
          </a:xfrm>
          <a:prstGeom prst="rect">
            <a:avLst/>
          </a:prstGeom>
          <a:solidFill>
            <a:srgbClr val="335474"/>
          </a:solidFill>
          <a:ln w="12700">
            <a:solidFill>
              <a:srgbClr val="33547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27798" y="1965960"/>
            <a:ext cx="420624" cy="420624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27798" y="201168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509510" y="253288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a cadência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7509510" y="3099816"/>
            <a:ext cx="17739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áudio, ligação, nova visita, prova social e indicação.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475470" y="2999232"/>
            <a:ext cx="109728" cy="292608"/>
          </a:xfrm>
          <a:prstGeom prst="chevron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58350" y="1764792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658350" y="1764792"/>
            <a:ext cx="2084832" cy="109728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841230" y="1965960"/>
            <a:ext cx="420624" cy="420624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41230" y="201168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822942" y="253288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e ajustar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9822942" y="3099816"/>
            <a:ext cx="177393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objeções, gargalos e taxa de avanço por categoria.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822960" y="57241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esperada: base estruturada, fila operacional clara e funil antigo voltando a se mover com previsibilidade.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única: como a planilha deve ser montada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planilha não é só cadastro: ela precisa guiar a execução diária.</a:t>
            </a:r>
            <a:endParaRPr lang="en-US" sz="1150" dirty="0"/>
          </a:p>
        </p:txBody>
      </p:sp>
      <p:pic>
        <p:nvPicPr>
          <p:cNvPr id="6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8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" y="1600200"/>
            <a:ext cx="5285232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783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obrigatórios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87552" y="2212848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148840"/>
            <a:ext cx="4498848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Identificação: nome, telefone, cidade/bairro e origem.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987552" y="2633066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2144" y="2569058"/>
            <a:ext cx="4498848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Histórico: conversa, ligação, visita, proposta, fechamento e motivo de perda.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987552" y="3053283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2144" y="2989275"/>
            <a:ext cx="4498848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 atual: status, substatus, temperatura e responsável.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987552" y="3473501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52144" y="3409493"/>
            <a:ext cx="4498848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ação: canal, data, objetivo e resultado da última tentativa.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987552" y="3893718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52144" y="3829710"/>
            <a:ext cx="4498848" cy="34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ativos: satisfação, depoimento, indicações e comissão liberada.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6272784" y="1600200"/>
            <a:ext cx="5175504" cy="4617720"/>
          </a:xfrm>
          <a:prstGeom prst="roundRect">
            <a:avLst>
              <a:gd name="adj" fmla="val 1584"/>
            </a:avLst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17739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controle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492240" y="2203704"/>
            <a:ext cx="91440" cy="420624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2148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contato sem dono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93408" y="24048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2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registro precisa de um responsável nominal.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92240" y="3008376"/>
            <a:ext cx="91440" cy="420624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93408" y="295351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contato sem próxima ação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693408" y="32095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2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não há data, não há gestão; há esquecimento.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92240" y="3813048"/>
            <a:ext cx="91440" cy="420624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93408" y="3758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padronizado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693408" y="40142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2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interpretações subjetivas e retrabalho do time.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92240" y="4617720"/>
            <a:ext cx="91440" cy="420624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93408" y="4562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Objeção registrada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693408" y="48188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2D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 follow-up em inteligência comercial.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492240" y="5440680"/>
            <a:ext cx="4480560" cy="0"/>
          </a:xfrm>
          <a:prstGeom prst="line">
            <a:avLst/>
          </a:prstGeom>
          <a:noFill/>
          <a:ln w="12700">
            <a:solidFill>
              <a:srgbClr val="44627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10528" y="555955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mínima de abas: Base geral | Leads por categoria | Clientes ativos | Indicações | Dashboard.</a:t>
            </a:r>
            <a:endParaRPr lang="en-US" sz="12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Segmentação da base: quatro grupos operacionais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ativação parte desta pergunta: em que estágio o contato está e qual é a próxima microconversão?</a:t>
            </a:r>
            <a:endParaRPr lang="en-US" sz="1150" dirty="0"/>
          </a:p>
        </p:txBody>
      </p:sp>
      <p:pic>
        <p:nvPicPr>
          <p:cNvPr id="5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E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41248" y="1508760"/>
            <a:ext cx="10469880" cy="841248"/>
          </a:xfrm>
          <a:prstGeom prst="roundRect">
            <a:avLst>
              <a:gd name="adj" fmla="val 6522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87552" y="164592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783080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304288" y="163677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com conversa inicial parada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2304288" y="191109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reativar e agendar ligação.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18120" y="1655064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0D2F51"/>
          </a:solidFill>
          <a:ln w="12700">
            <a:solidFill>
              <a:srgbClr val="4664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91272" y="1819656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 ligação curta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1248" y="2651760"/>
            <a:ext cx="10469880" cy="841248"/>
          </a:xfrm>
          <a:prstGeom prst="roundRect">
            <a:avLst>
              <a:gd name="adj" fmla="val 6522"/>
            </a:avLst>
          </a:prstGeom>
          <a:solidFill>
            <a:srgbClr val="183E65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87552" y="278892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2926080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304288" y="277977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com ligação feita e sem visita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2304288" y="305409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retomar e agendar visita.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18120" y="2798064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0D2F51"/>
          </a:solidFill>
          <a:ln w="12700">
            <a:solidFill>
              <a:srgbClr val="4664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91272" y="2962656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+ oferta de agenda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41248" y="3794760"/>
            <a:ext cx="10469880" cy="841248"/>
          </a:xfrm>
          <a:prstGeom prst="roundRect">
            <a:avLst>
              <a:gd name="adj" fmla="val 6522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87552" y="393192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4069080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304288" y="3922776"/>
            <a:ext cx="48455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visitado, proposta enviada e sem fechamento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2304288" y="419709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entender a objeção, personalizar e trazer nova visita.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818120" y="3941064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0D2F51"/>
          </a:solidFill>
          <a:ln w="12700">
            <a:solidFill>
              <a:srgbClr val="4664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91272" y="4105656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+ quebra de objeção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41248" y="4937760"/>
            <a:ext cx="10469880" cy="841248"/>
          </a:xfrm>
          <a:prstGeom prst="roundRect">
            <a:avLst>
              <a:gd name="adj" fmla="val 6522"/>
            </a:avLst>
          </a:prstGeom>
          <a:solidFill>
            <a:srgbClr val="183E65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87552" y="507492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" y="5212080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2304288" y="506577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ativo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2304288" y="534009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pesquisar satisfação, pedir depoimento e ativar indicação.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818120" y="5084064"/>
            <a:ext cx="2606040" cy="548640"/>
          </a:xfrm>
          <a:prstGeom prst="roundRect">
            <a:avLst>
              <a:gd name="adj" fmla="val 8333"/>
            </a:avLst>
          </a:prstGeom>
          <a:solidFill>
            <a:srgbClr val="0D2F51"/>
          </a:solidFill>
          <a:ln w="12700">
            <a:solidFill>
              <a:srgbClr val="46648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91272" y="5248656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Relacionamento + prova social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68680" y="614476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da segmentação é simples: cada grupo tem linguagem, objetivo e cadência próprios.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operacional ARKAN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 não só reativa contatos; ele reconstrói o avanço do contato até a indicação.</a:t>
            </a:r>
            <a:endParaRPr lang="en-US" sz="1150" dirty="0"/>
          </a:p>
        </p:txBody>
      </p:sp>
      <p:pic>
        <p:nvPicPr>
          <p:cNvPr id="6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8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340968" y="1417320"/>
            <a:ext cx="9509760" cy="658368"/>
          </a:xfrm>
          <a:prstGeom prst="chevron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69568" y="1536192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mapeada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69568" y="1783080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contato organizado e categorizado.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72488" y="2331720"/>
            <a:ext cx="8046720" cy="658368"/>
          </a:xfrm>
          <a:prstGeom prst="chevron">
            <a:avLst/>
          </a:prstGeom>
          <a:solidFill>
            <a:srgbClr val="DCE7F1"/>
          </a:solidFill>
          <a:ln w="12700">
            <a:solidFill>
              <a:srgbClr val="DCE7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01088" y="24505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 acionado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301088" y="269748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contato executado com cadência.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895448" y="3246120"/>
            <a:ext cx="6400800" cy="658368"/>
          </a:xfrm>
          <a:prstGeom prst="chevron">
            <a:avLst/>
          </a:prstGeom>
          <a:solidFill>
            <a:srgbClr val="CFDDEA"/>
          </a:solidFill>
          <a:ln w="12700">
            <a:solidFill>
              <a:srgbClr val="CFDD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4048" y="33649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 / Visita agendada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24048" y="3611880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Microconversão principal de cada grupo.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581248" y="4160520"/>
            <a:ext cx="5029200" cy="658368"/>
          </a:xfrm>
          <a:prstGeom prst="chevron">
            <a:avLst/>
          </a:prstGeom>
          <a:solidFill>
            <a:srgbClr val="C2D4E4"/>
          </a:solidFill>
          <a:ln w="12700">
            <a:solidFill>
              <a:srgbClr val="C2D4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09848" y="4279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ajustada / Fechamento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809848" y="452628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Retomada da negociação com objeção tratada.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67048" y="5074920"/>
            <a:ext cx="3657600" cy="658368"/>
          </a:xfrm>
          <a:prstGeom prst="chevron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95648" y="523951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satisfeito → Depoimento → Indicação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95647" y="555498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do ativo comercial da empresa.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417320" y="6181344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indicador crítico do funil é a taxa de avanço entre uma microconversão e a próxima.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Cadência 1: leads travados no WhatsApp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único: reativar e agendar ligação. Cada contato deve avançar apenas um passo.</a:t>
            </a:r>
            <a:endParaRPr lang="en-US" sz="1150" dirty="0"/>
          </a:p>
        </p:txBody>
      </p:sp>
      <p:pic>
        <p:nvPicPr>
          <p:cNvPr id="5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E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4400" y="3291840"/>
            <a:ext cx="10195560" cy="0"/>
          </a:xfrm>
          <a:prstGeom prst="line">
            <a:avLst/>
          </a:prstGeom>
          <a:noFill/>
          <a:ln w="12700">
            <a:solidFill>
              <a:srgbClr val="4968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2788920"/>
            <a:ext cx="0" cy="1005840"/>
          </a:xfrm>
          <a:prstGeom prst="line">
            <a:avLst/>
          </a:prstGeom>
          <a:noFill/>
          <a:ln w="12700">
            <a:solidFill>
              <a:srgbClr val="F756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3127248"/>
            <a:ext cx="310896" cy="3108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2432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texto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530352" y="40965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Retomada curta + pergunta </a:t>
            </a:r>
            <a:r>
              <a:rPr lang="en-US" sz="9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objetiva</a:t>
            </a: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9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9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</a:t>
            </a: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2633472" y="2788920"/>
            <a:ext cx="0" cy="1005840"/>
          </a:xfrm>
          <a:prstGeom prst="line">
            <a:avLst/>
          </a:prstGeom>
          <a:noFill/>
          <a:ln w="12700">
            <a:solidFill>
              <a:srgbClr val="F756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78024" y="3127248"/>
            <a:ext cx="310896" cy="3108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86584" y="2432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093976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2020824" y="40965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Tentativa direta com abertura consultiva.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123944" y="2788920"/>
            <a:ext cx="0" cy="1005840"/>
          </a:xfrm>
          <a:prstGeom prst="line">
            <a:avLst/>
          </a:prstGeom>
          <a:noFill/>
          <a:ln w="12700">
            <a:solidFill>
              <a:srgbClr val="F756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68496" y="3127248"/>
            <a:ext cx="310896" cy="3108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77056" y="2432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84448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áudio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3511296" y="40965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humano, 20–40 segundos.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5614416" y="2788920"/>
            <a:ext cx="0" cy="1005840"/>
          </a:xfrm>
          <a:prstGeom prst="line">
            <a:avLst/>
          </a:prstGeom>
          <a:noFill/>
          <a:ln w="12700">
            <a:solidFill>
              <a:srgbClr val="F756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58968" y="3127248"/>
            <a:ext cx="310896" cy="3108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67528" y="2432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74920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texto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5001768" y="40965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objetiva de 2 horários.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7104888" y="2788920"/>
            <a:ext cx="0" cy="1005840"/>
          </a:xfrm>
          <a:prstGeom prst="line">
            <a:avLst/>
          </a:prstGeom>
          <a:noFill/>
          <a:ln w="12700">
            <a:solidFill>
              <a:srgbClr val="F756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49440" y="3127248"/>
            <a:ext cx="310896" cy="3108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2432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D8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565392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6492240" y="40965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tentativa forte para agenda.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8595360" y="2788920"/>
            <a:ext cx="0" cy="1005840"/>
          </a:xfrm>
          <a:prstGeom prst="line">
            <a:avLst/>
          </a:prstGeom>
          <a:noFill/>
          <a:ln w="12700">
            <a:solidFill>
              <a:srgbClr val="F756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39912" y="3127248"/>
            <a:ext cx="310896" cy="3108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48472" y="2432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055864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 leve</a:t>
            </a:r>
            <a:endParaRPr lang="en-US" sz="1120" dirty="0"/>
          </a:p>
        </p:txBody>
      </p:sp>
      <p:sp>
        <p:nvSpPr>
          <p:cNvPr id="37" name="Text 34"/>
          <p:cNvSpPr/>
          <p:nvPr/>
        </p:nvSpPr>
        <p:spPr>
          <a:xfrm>
            <a:off x="7982712" y="40965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o ciclo e prepara reciclagem.</a:t>
            </a:r>
            <a:endParaRPr lang="en-US" sz="960" dirty="0"/>
          </a:p>
        </p:txBody>
      </p:sp>
      <p:sp>
        <p:nvSpPr>
          <p:cNvPr id="38" name="Shape 35"/>
          <p:cNvSpPr/>
          <p:nvPr/>
        </p:nvSpPr>
        <p:spPr>
          <a:xfrm>
            <a:off x="10085832" y="2788920"/>
            <a:ext cx="0" cy="1005840"/>
          </a:xfrm>
          <a:prstGeom prst="line">
            <a:avLst/>
          </a:prstGeom>
          <a:noFill/>
          <a:ln w="12700">
            <a:solidFill>
              <a:srgbClr val="F756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930384" y="3127248"/>
            <a:ext cx="310896" cy="3108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38944" y="24323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D30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546336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Reentrada</a:t>
            </a:r>
            <a:endParaRPr lang="en-US" sz="1120" dirty="0"/>
          </a:p>
        </p:txBody>
      </p:sp>
      <p:sp>
        <p:nvSpPr>
          <p:cNvPr id="42" name="Text 39"/>
          <p:cNvSpPr/>
          <p:nvPr/>
        </p:nvSpPr>
        <p:spPr>
          <a:xfrm>
            <a:off x="9473184" y="40965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gancho: economia, timing ou prioridade.</a:t>
            </a: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896112" y="1426464"/>
            <a:ext cx="3127248" cy="749808"/>
          </a:xfrm>
          <a:prstGeom prst="roundRect">
            <a:avLst>
              <a:gd name="adj" fmla="val 7317"/>
            </a:avLst>
          </a:prstGeom>
          <a:solidFill>
            <a:srgbClr val="173A5F"/>
          </a:solidFill>
          <a:ln w="12700">
            <a:solidFill>
              <a:srgbClr val="3E607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4420" y="1495044"/>
            <a:ext cx="1399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Mensagem-base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1061105" y="1785406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“Sua conversa com a gente ficou em aberto. Ainda faz sentido olhar sua situação de energia?”</a:t>
            </a:r>
            <a:endParaRPr lang="en-US" sz="1120" dirty="0"/>
          </a:p>
        </p:txBody>
      </p:sp>
      <p:sp>
        <p:nvSpPr>
          <p:cNvPr id="46" name="Shape 43"/>
          <p:cNvSpPr/>
          <p:nvPr/>
        </p:nvSpPr>
        <p:spPr>
          <a:xfrm>
            <a:off x="8247888" y="1426464"/>
            <a:ext cx="3017520" cy="749808"/>
          </a:xfrm>
          <a:prstGeom prst="roundRect">
            <a:avLst>
              <a:gd name="adj" fmla="val 7317"/>
            </a:avLst>
          </a:prstGeom>
          <a:solidFill>
            <a:srgbClr val="173A5F"/>
          </a:solidFill>
          <a:ln w="12700">
            <a:solidFill>
              <a:srgbClr val="3E607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12480" y="1572768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pausa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8412480" y="181051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não respondeu, pausar e reentrar em 30 dias com novo contexto.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Cadências 2 e 3: pós-ligação e pós-proposta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daqui, o follow-up precisa ser mais consultivo e mais personalizado.</a:t>
            </a:r>
            <a:endParaRPr lang="en-US" sz="1150" dirty="0"/>
          </a:p>
        </p:txBody>
      </p:sp>
      <p:pic>
        <p:nvPicPr>
          <p:cNvPr id="6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8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" y="1508760"/>
            <a:ext cx="5321808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737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2 | Pós-ligação parado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87552" y="2185416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2121408"/>
            <a:ext cx="4590288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D0: WhatsApp retomando a ligação e propondo visita.</a:t>
            </a:r>
            <a:endParaRPr lang="en-US" sz="1160" dirty="0"/>
          </a:p>
        </p:txBody>
      </p:sp>
      <p:sp>
        <p:nvSpPr>
          <p:cNvPr id="12" name="Shape 9"/>
          <p:cNvSpPr/>
          <p:nvPr/>
        </p:nvSpPr>
        <p:spPr>
          <a:xfrm>
            <a:off x="987552" y="2588565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2144" y="2524557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Ligação curta para fechar agenda.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987552" y="2917749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2144" y="2853741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D3: WhatsApp com prova ou benefício concreto.</a:t>
            </a:r>
            <a:endParaRPr lang="en-US" sz="1160" dirty="0"/>
          </a:p>
        </p:txBody>
      </p:sp>
      <p:sp>
        <p:nvSpPr>
          <p:cNvPr id="16" name="Shape 13"/>
          <p:cNvSpPr/>
          <p:nvPr/>
        </p:nvSpPr>
        <p:spPr>
          <a:xfrm>
            <a:off x="987552" y="3246933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52144" y="3182925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D6: Nova </a:t>
            </a:r>
            <a:r>
              <a:rPr lang="en-US" sz="1160" dirty="0" err="1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tentativa</a:t>
            </a:r>
            <a:r>
              <a:rPr lang="en-US" sz="11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160" dirty="0" err="1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</a:t>
            </a:r>
            <a:r>
              <a:rPr lang="en-US" sz="11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987552" y="3576117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52144" y="3512109"/>
            <a:ext cx="4590288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D10: Mensagem com duas opções fechadas de horário.</a:t>
            </a:r>
            <a:endParaRPr lang="en-US" sz="1160" dirty="0"/>
          </a:p>
        </p:txBody>
      </p:sp>
      <p:sp>
        <p:nvSpPr>
          <p:cNvPr id="20" name="Shape 17"/>
          <p:cNvSpPr/>
          <p:nvPr/>
        </p:nvSpPr>
        <p:spPr>
          <a:xfrm>
            <a:off x="987552" y="3979266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52144" y="3915258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D15: Encerramento leve e reciclagem futura.</a:t>
            </a:r>
            <a:endParaRPr lang="en-US" sz="1160" dirty="0"/>
          </a:p>
        </p:txBody>
      </p:sp>
      <p:sp>
        <p:nvSpPr>
          <p:cNvPr id="22" name="Text 19"/>
          <p:cNvSpPr/>
          <p:nvPr/>
        </p:nvSpPr>
        <p:spPr>
          <a:xfrm>
            <a:off x="987552" y="571500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converter interesse em visita agendada.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6272784" y="1508760"/>
            <a:ext cx="5175504" cy="4663440"/>
          </a:xfrm>
          <a:prstGeom prst="roundRect">
            <a:avLst>
              <a:gd name="adj" fmla="val 1569"/>
            </a:avLst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3 | Pós-visita e proposta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510528" y="2185416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0" y="2121408"/>
            <a:ext cx="4407408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D0: ler o histórico e marcar a objeção principal.</a:t>
            </a:r>
            <a:endParaRPr lang="en-US" sz="1160" dirty="0"/>
          </a:p>
        </p:txBody>
      </p:sp>
      <p:sp>
        <p:nvSpPr>
          <p:cNvPr id="27" name="Shape 24"/>
          <p:cNvSpPr/>
          <p:nvPr/>
        </p:nvSpPr>
        <p:spPr>
          <a:xfrm>
            <a:off x="6510528" y="2588565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75120" y="2524557"/>
            <a:ext cx="4407408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D0: WhatsApp personalizado sobre o motivo do travamento.</a:t>
            </a:r>
            <a:endParaRPr lang="en-US" sz="1160" dirty="0"/>
          </a:p>
        </p:txBody>
      </p:sp>
      <p:sp>
        <p:nvSpPr>
          <p:cNvPr id="29" name="Shape 26"/>
          <p:cNvSpPr/>
          <p:nvPr/>
        </p:nvSpPr>
        <p:spPr>
          <a:xfrm>
            <a:off x="6510528" y="2991714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0" y="2927706"/>
            <a:ext cx="4407408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D1: Ligação para validar objeção real e momento.</a:t>
            </a:r>
            <a:endParaRPr lang="en-US" sz="1160" dirty="0"/>
          </a:p>
        </p:txBody>
      </p:sp>
      <p:sp>
        <p:nvSpPr>
          <p:cNvPr id="31" name="Shape 28"/>
          <p:cNvSpPr/>
          <p:nvPr/>
        </p:nvSpPr>
        <p:spPr>
          <a:xfrm>
            <a:off x="6510528" y="3394862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5120" y="333085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D4: Mensagem com quebra de objeção específica.</a:t>
            </a:r>
            <a:endParaRPr lang="en-US" sz="1160" dirty="0"/>
          </a:p>
        </p:txBody>
      </p:sp>
      <p:sp>
        <p:nvSpPr>
          <p:cNvPr id="33" name="Shape 30"/>
          <p:cNvSpPr/>
          <p:nvPr/>
        </p:nvSpPr>
        <p:spPr>
          <a:xfrm>
            <a:off x="6510528" y="3724046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75120" y="3660038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D7: </a:t>
            </a:r>
            <a:r>
              <a:rPr lang="en-US" sz="11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</a:t>
            </a: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 para nova </a:t>
            </a:r>
            <a:r>
              <a:rPr lang="en-US" sz="11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</a:t>
            </a: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conduzindo</a:t>
            </a: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60" dirty="0"/>
          </a:p>
        </p:txBody>
      </p:sp>
      <p:sp>
        <p:nvSpPr>
          <p:cNvPr id="35" name="Shape 32"/>
          <p:cNvSpPr/>
          <p:nvPr/>
        </p:nvSpPr>
        <p:spPr>
          <a:xfrm>
            <a:off x="6510528" y="4053230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75120" y="3989222"/>
            <a:ext cx="4407408" cy="32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D15: </a:t>
            </a:r>
            <a:r>
              <a:rPr lang="en-US" sz="11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</a:t>
            </a: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</a:t>
            </a: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1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reciclagem</a:t>
            </a: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6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futura</a:t>
            </a:r>
            <a:r>
              <a:rPr lang="en-US" sz="116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60" dirty="0"/>
          </a:p>
        </p:txBody>
      </p:sp>
      <p:sp>
        <p:nvSpPr>
          <p:cNvPr id="37" name="Text 34"/>
          <p:cNvSpPr/>
          <p:nvPr/>
        </p:nvSpPr>
        <p:spPr>
          <a:xfrm>
            <a:off x="6510528" y="57150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reabrir negociação com proposta ajustada e nova visita.</a:t>
            </a:r>
            <a:endParaRPr lang="en-US" sz="12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ativos: satisfação, prova social e indicação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satisfeito deixa de ser fim de processo e passa a ser uma alavanca comercial.</a:t>
            </a:r>
            <a:endParaRPr lang="en-US" sz="1150" dirty="0"/>
          </a:p>
        </p:txBody>
      </p:sp>
      <p:pic>
        <p:nvPicPr>
          <p:cNvPr id="5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E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3232" y="1938528"/>
            <a:ext cx="2468880" cy="2139696"/>
          </a:xfrm>
          <a:prstGeom prst="roundRect">
            <a:avLst>
              <a:gd name="adj" fmla="val 2991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7824" y="21031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185416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77824" y="25786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satisfação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999232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simples: nota de 0 a 10 e principal motivo.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84448" y="1938528"/>
            <a:ext cx="2468880" cy="2139696"/>
          </a:xfrm>
          <a:prstGeom prst="roundRect">
            <a:avLst>
              <a:gd name="adj" fmla="val 2991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49040" y="21031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49040" y="2185416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749040" y="25786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Depoimento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785616" y="2999232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satisfeito, pedir áudio ou vídeo curto com experiência.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55664" y="1938528"/>
            <a:ext cx="2468880" cy="2139696"/>
          </a:xfrm>
          <a:prstGeom prst="roundRect">
            <a:avLst>
              <a:gd name="adj" fmla="val 2991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20256" y="21031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0256" y="2185416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620256" y="25786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indicação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656832" y="2999232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os 3% para quem indica e para quem compra.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326880" y="1938528"/>
            <a:ext cx="2468880" cy="2139696"/>
          </a:xfrm>
          <a:prstGeom prst="roundRect">
            <a:avLst>
              <a:gd name="adj" fmla="val 2991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491472" y="21031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91472" y="2185416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491472" y="25786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+ contato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528048" y="2999232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conversa com amigo; envia print; vendedor assume o fluxo.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8680" y="4892040"/>
            <a:ext cx="10424160" cy="768096"/>
          </a:xfrm>
          <a:prstGeom prst="roundRect">
            <a:avLst>
              <a:gd name="adj" fmla="val 5952"/>
            </a:avLst>
          </a:prstGeom>
          <a:solidFill>
            <a:srgbClr val="173A5F"/>
          </a:solidFill>
          <a:ln w="12700">
            <a:solidFill>
              <a:srgbClr val="3E607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8992" y="512064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operacional do programa: se o novo lead não chamar a empresa, o vendedor entra em contato 1 dia após receber o print e segue a qualificação normalmente.</a:t>
            </a:r>
            <a:endParaRPr lang="en-US" sz="12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essenciais de ativação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linguagem deve ser curta, humana e orientada para a próxima microconversão.</a:t>
            </a:r>
            <a:endParaRPr lang="en-US" sz="1150" dirty="0"/>
          </a:p>
        </p:txBody>
      </p:sp>
      <p:pic>
        <p:nvPicPr>
          <p:cNvPr id="6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8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4672" y="1572768"/>
            <a:ext cx="4910328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1572768"/>
            <a:ext cx="4910328" cy="9144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5564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travado no WhatsApp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05840" y="204825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“Sua conversa com a gente ficou em aberto. Ainda faz sentido olhar sua situação de energia? Se sim, faço uma ligação rápida hoje.”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455664" y="1572768"/>
            <a:ext cx="4910328" cy="1700784"/>
          </a:xfrm>
          <a:prstGeom prst="roundRect">
            <a:avLst>
              <a:gd name="adj" fmla="val 4301"/>
            </a:avLst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55664" y="1572768"/>
            <a:ext cx="4910328" cy="9144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56832" y="175564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Pós-ligação parado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656832" y="204825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“Depois da nossa ligação, o próximo passo mais inteligente é uma visita rápida para validar o cenário. Tenho terça 15h ou quarta 10h.”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804672" y="3721608"/>
            <a:ext cx="4910328" cy="1700784"/>
          </a:xfrm>
          <a:prstGeom prst="roundRect">
            <a:avLst>
              <a:gd name="adj" fmla="val 4301"/>
            </a:avLst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3721608"/>
            <a:ext cx="4910328" cy="9144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90448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Pós-proposta sem fechamento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005840" y="419709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“Quero entender se o ponto que travou foi valor, timing ou alguma insegurança na decisão. Dependendo disso, ajustamos a abordagem.”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6455664" y="3721608"/>
            <a:ext cx="4910328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55664" y="3721608"/>
            <a:ext cx="4910328" cy="9144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56832" y="390448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satisfeito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656832" y="419709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“Como sua experiência foi positiva, queria te convidar para o programa de indicação. Você lembra de 3 pessoas que poderiam ter interesse?”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859536" y="6080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não vender tudo na primeira mensagem. O objetivo do contato é apenas o próximo avanço.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Objeções mais comuns e resposta padrão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precisa tratar objeção com método, não com improviso.</a:t>
            </a:r>
            <a:endParaRPr lang="en-US" sz="1150" dirty="0"/>
          </a:p>
        </p:txBody>
      </p:sp>
      <p:pic>
        <p:nvPicPr>
          <p:cNvPr id="5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E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22960" y="1572768"/>
            <a:ext cx="10497312" cy="4526280"/>
          </a:xfrm>
          <a:prstGeom prst="roundRect">
            <a:avLst>
              <a:gd name="adj" fmla="val 1010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572768"/>
            <a:ext cx="2971800" cy="50292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94760" y="1572768"/>
            <a:ext cx="7525512" cy="502920"/>
          </a:xfrm>
          <a:prstGeom prst="rect">
            <a:avLst/>
          </a:prstGeom>
          <a:solidFill>
            <a:srgbClr val="244B72"/>
          </a:solidFill>
          <a:ln w="12700">
            <a:solidFill>
              <a:srgbClr val="244B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17282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Objeção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86784" y="1728216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Resposta-padrão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50976" y="2157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“Agora não é prioridade”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3986784" y="215798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o momento, mas abrir espaço para revisar se existe um caminho viável agora ou mais à frente.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32688" y="2670048"/>
            <a:ext cx="10058400" cy="0"/>
          </a:xfrm>
          <a:prstGeom prst="line">
            <a:avLst/>
          </a:prstGeom>
          <a:noFill/>
          <a:ln w="12700">
            <a:solidFill>
              <a:srgbClr val="3356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976" y="2788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“Está caro”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3986784" y="27889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Reconectar valor com retorno e revisar se o ajuste precisa estar na proposta, condição ou estratégia.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32688" y="3300984"/>
            <a:ext cx="10058400" cy="0"/>
          </a:xfrm>
          <a:prstGeom prst="line">
            <a:avLst/>
          </a:prstGeom>
          <a:noFill/>
          <a:ln w="12700">
            <a:solidFill>
              <a:srgbClr val="3356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976" y="3419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“Vou pensar”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3986784" y="34198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Tirar a negociação do limbo: perguntar o que ainda falta para decidir com segurança.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32688" y="3931920"/>
            <a:ext cx="10058400" cy="0"/>
          </a:xfrm>
          <a:prstGeom prst="line">
            <a:avLst/>
          </a:prstGeom>
          <a:noFill/>
          <a:ln w="12700">
            <a:solidFill>
              <a:srgbClr val="33567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" y="4050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“Preciso falar com meu esposo(a)/sócio”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3986784" y="40507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Trazer os decisores para uma conversa única e objetiva.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32688" y="4562856"/>
            <a:ext cx="10058400" cy="0"/>
          </a:xfrm>
          <a:prstGeom prst="line">
            <a:avLst/>
          </a:prstGeom>
          <a:noFill/>
          <a:ln w="12700">
            <a:solidFill>
              <a:srgbClr val="33567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976" y="4681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“Estou sem tempo”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3986784" y="46817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Oferecer conversa de 10 minutos só para definir se vale avançar.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32688" y="5193792"/>
            <a:ext cx="10058400" cy="0"/>
          </a:xfrm>
          <a:prstGeom prst="line">
            <a:avLst/>
          </a:prstGeom>
          <a:noFill/>
          <a:ln w="12700">
            <a:solidFill>
              <a:srgbClr val="33567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0976" y="53126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“Já estou vendo com outra empresa”</a:t>
            </a:r>
            <a:endParaRPr lang="en-US" sz="1240" dirty="0"/>
          </a:p>
        </p:txBody>
      </p:sp>
      <p:sp>
        <p:nvSpPr>
          <p:cNvPr id="28" name="Text 25"/>
          <p:cNvSpPr/>
          <p:nvPr/>
        </p:nvSpPr>
        <p:spPr>
          <a:xfrm>
            <a:off x="3986784" y="5312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espaço para comparativo e decisão </a:t>
            </a:r>
            <a:r>
              <a:rPr lang="en-US" sz="110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</a:t>
            </a: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</a:t>
            </a: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 </a:t>
            </a:r>
            <a:r>
              <a:rPr lang="en-US" sz="110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possível</a:t>
            </a: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solicite</a:t>
            </a: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10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</a:t>
            </a: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</a:t>
            </a:r>
            <a:r>
              <a:rPr lang="en-US" sz="110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que o gestor precisa acompanhar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Poucos indicadores, mas todos conectados a execução, avanço e receita recuperada.</a:t>
            </a:r>
            <a:endParaRPr lang="en-US" sz="1150" dirty="0"/>
          </a:p>
        </p:txBody>
      </p:sp>
      <p:pic>
        <p:nvPicPr>
          <p:cNvPr id="6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8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86384" y="1600200"/>
            <a:ext cx="49926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1600200"/>
            <a:ext cx="4992624" cy="9144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783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05840" y="2167128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12264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mapeado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1005840" y="2423160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2368296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categorizado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1005840" y="2679192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2624328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com próxima ação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1005840" y="2935224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" y="2880360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sem resposta &gt; 30 dias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364224" y="1600200"/>
            <a:ext cx="49926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64224" y="1600200"/>
            <a:ext cx="4992624" cy="9144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65392" y="1783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83680" y="2167128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11696" y="2112264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Contatos acionados/dia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6583680" y="2423160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11696" y="2368296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resposta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583680" y="2679192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11696" y="2624328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conexão em ligação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6583680" y="2935224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11696" y="2880360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cadências concluídas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786384" y="3749040"/>
            <a:ext cx="49926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86384" y="3749040"/>
            <a:ext cx="4992624" cy="91440"/>
          </a:xfrm>
          <a:prstGeom prst="rect">
            <a:avLst/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7552" y="3931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05840" y="4315968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33856" y="4261104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Ligações agendadas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1005840" y="4572000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33856" y="4517136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 agendadas</a:t>
            </a:r>
            <a:endParaRPr lang="en-US" sz="1120" dirty="0"/>
          </a:p>
        </p:txBody>
      </p:sp>
      <p:sp>
        <p:nvSpPr>
          <p:cNvPr id="37" name="Shape 34"/>
          <p:cNvSpPr/>
          <p:nvPr/>
        </p:nvSpPr>
        <p:spPr>
          <a:xfrm>
            <a:off x="1005840" y="4828032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33856" y="4773168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 reabertas</a:t>
            </a:r>
            <a:endParaRPr lang="en-US" sz="1120" dirty="0"/>
          </a:p>
        </p:txBody>
      </p:sp>
      <p:sp>
        <p:nvSpPr>
          <p:cNvPr id="39" name="Shape 36"/>
          <p:cNvSpPr/>
          <p:nvPr/>
        </p:nvSpPr>
        <p:spPr>
          <a:xfrm>
            <a:off x="1005840" y="5084064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33856" y="5029200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Fechamentos vindos da base</a:t>
            </a:r>
            <a:endParaRPr lang="en-US" sz="1120" dirty="0"/>
          </a:p>
        </p:txBody>
      </p:sp>
      <p:sp>
        <p:nvSpPr>
          <p:cNvPr id="41" name="Shape 38"/>
          <p:cNvSpPr/>
          <p:nvPr/>
        </p:nvSpPr>
        <p:spPr>
          <a:xfrm>
            <a:off x="6364224" y="3749040"/>
            <a:ext cx="49926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364224" y="3749040"/>
            <a:ext cx="4992624" cy="9144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65392" y="3931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583680" y="4315968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11696" y="4261104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satisfação</a:t>
            </a:r>
            <a:endParaRPr lang="en-US" sz="1120" dirty="0"/>
          </a:p>
        </p:txBody>
      </p:sp>
      <p:sp>
        <p:nvSpPr>
          <p:cNvPr id="46" name="Shape 43"/>
          <p:cNvSpPr/>
          <p:nvPr/>
        </p:nvSpPr>
        <p:spPr>
          <a:xfrm>
            <a:off x="6583680" y="4572000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11696" y="4517136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Depoimentos recebidos</a:t>
            </a:r>
            <a:endParaRPr lang="en-US" sz="1120" dirty="0"/>
          </a:p>
        </p:txBody>
      </p:sp>
      <p:sp>
        <p:nvSpPr>
          <p:cNvPr id="48" name="Shape 45"/>
          <p:cNvSpPr/>
          <p:nvPr/>
        </p:nvSpPr>
        <p:spPr>
          <a:xfrm>
            <a:off x="6583680" y="4828032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711696" y="4773168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que indicaram</a:t>
            </a:r>
            <a:endParaRPr lang="en-US" sz="1120" dirty="0"/>
          </a:p>
        </p:txBody>
      </p:sp>
      <p:sp>
        <p:nvSpPr>
          <p:cNvPr id="50" name="Shape 47"/>
          <p:cNvSpPr/>
          <p:nvPr/>
        </p:nvSpPr>
        <p:spPr>
          <a:xfrm>
            <a:off x="6583680" y="5084064"/>
            <a:ext cx="73152" cy="73152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711696" y="5029200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 por indicação</a:t>
            </a:r>
            <a:endParaRPr lang="en-US" sz="1120" dirty="0"/>
          </a:p>
        </p:txBody>
      </p:sp>
      <p:sp>
        <p:nvSpPr>
          <p:cNvPr id="52" name="Text 49"/>
          <p:cNvSpPr/>
          <p:nvPr/>
        </p:nvSpPr>
        <p:spPr>
          <a:xfrm>
            <a:off x="841248" y="603504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estratégica obrigatória: top 5 objeções, receita recuperada da base e participação da base nos novos agendamentos.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operacional e governança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 só funciona se a execução diária for curta, disciplinada e mensurável.</a:t>
            </a:r>
            <a:endParaRPr lang="en-US" sz="1150" dirty="0"/>
          </a:p>
        </p:txBody>
      </p:sp>
      <p:pic>
        <p:nvPicPr>
          <p:cNvPr id="5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E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04672" y="1737360"/>
            <a:ext cx="3035808" cy="3154680"/>
          </a:xfrm>
          <a:prstGeom prst="roundRect">
            <a:avLst>
              <a:gd name="adj" fmla="val 2410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9264" y="190195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1984248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9264" y="232257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 | Organizar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24128" y="2724912"/>
            <a:ext cx="82296" cy="822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65176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respostas do dia anterior.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1024128" y="3218688"/>
            <a:ext cx="82296" cy="822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314553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 cada contato para o status correto.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1024128" y="3712464"/>
            <a:ext cx="82296" cy="822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0432" y="363931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fila e prioridades do dia.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4553712" y="1737360"/>
            <a:ext cx="3035808" cy="3154680"/>
          </a:xfrm>
          <a:prstGeom prst="roundRect">
            <a:avLst>
              <a:gd name="adj" fmla="val 2410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18304" y="190195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18304" y="1984248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718304" y="232257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 | Executar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73168" y="2724912"/>
            <a:ext cx="82296" cy="822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9472" y="265176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Disparar WhatsApps da cadência.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4773168" y="3218688"/>
            <a:ext cx="82296" cy="822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19472" y="314553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ligações pendentes.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4773168" y="3712464"/>
            <a:ext cx="82296" cy="822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19472" y="363931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resultado de cada tentativa.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8302752" y="1737360"/>
            <a:ext cx="3035808" cy="3154680"/>
          </a:xfrm>
          <a:prstGeom prst="roundRect">
            <a:avLst>
              <a:gd name="adj" fmla="val 2410"/>
            </a:avLst>
          </a:prstGeom>
          <a:solidFill>
            <a:srgbClr val="14385F"/>
          </a:solidFill>
          <a:ln w="12700">
            <a:solidFill>
              <a:srgbClr val="35567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67344" y="190195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67344" y="1984248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467344" y="232257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 | Inteligência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522208" y="2724912"/>
            <a:ext cx="82296" cy="822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68512" y="265176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Anotar objeções e gargalos.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8522208" y="3218688"/>
            <a:ext cx="82296" cy="822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68512" y="314553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script se necessário.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8522208" y="3712464"/>
            <a:ext cx="82296" cy="82296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68512" y="363931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7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Replanejar pausas e reentradas.</a:t>
            </a:r>
            <a:endParaRPr lang="en-US" sz="1120" dirty="0"/>
          </a:p>
        </p:txBody>
      </p:sp>
      <p:sp>
        <p:nvSpPr>
          <p:cNvPr id="37" name="Shape 34"/>
          <p:cNvSpPr/>
          <p:nvPr/>
        </p:nvSpPr>
        <p:spPr>
          <a:xfrm>
            <a:off x="841248" y="5376672"/>
            <a:ext cx="10424160" cy="566928"/>
          </a:xfrm>
          <a:prstGeom prst="roundRect">
            <a:avLst>
              <a:gd name="adj" fmla="val 8065"/>
            </a:avLst>
          </a:prstGeom>
          <a:solidFill>
            <a:srgbClr val="173A5F"/>
          </a:solidFill>
          <a:ln w="12700">
            <a:solidFill>
              <a:srgbClr val="3E607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4128" y="5568696"/>
            <a:ext cx="10040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semanal do gestor: revisar KPIs, objeções, cadências concluídas, oportunidades reabertas e oportunidades que precisam entrar em reciclagem.</a:t>
            </a:r>
            <a:endParaRPr lang="en-US" sz="12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84632"/>
            <a:ext cx="146304" cy="822960"/>
          </a:xfrm>
          <a:prstGeom prst="rect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4297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implantação em 7 dias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94183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D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 sugerida para tirar o programa do papel e colocar a cadência em produção.</a:t>
            </a:r>
            <a:endParaRPr lang="en-US" sz="1150" dirty="0"/>
          </a:p>
        </p:txBody>
      </p:sp>
      <p:pic>
        <p:nvPicPr>
          <p:cNvPr id="6" name="Image 0" descr="/mnt/data/arkan_emble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423" y="256032"/>
            <a:ext cx="1049115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8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69264" y="3246120"/>
            <a:ext cx="10058400" cy="0"/>
          </a:xfrm>
          <a:prstGeom prst="line">
            <a:avLst/>
          </a:prstGeom>
          <a:noFill/>
          <a:ln w="12700">
            <a:solidFill>
              <a:srgbClr val="D9E3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4128" y="3044952"/>
            <a:ext cx="384048" cy="384048"/>
          </a:xfrm>
          <a:prstGeom prst="ellipse">
            <a:avLst/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317296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1627632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2700" dist="381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181051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548640" y="3675888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todas as fontes da base em uma única planilha.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2505456" y="3044952"/>
            <a:ext cx="384048" cy="384048"/>
          </a:xfrm>
          <a:prstGeom prst="ellipse">
            <a:avLst/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05456" y="317296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167128" y="1627632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2700" dist="381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258568" y="181051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</a:t>
            </a:r>
            <a:endParaRPr lang="en-US" sz="1230" dirty="0"/>
          </a:p>
        </p:txBody>
      </p:sp>
      <p:sp>
        <p:nvSpPr>
          <p:cNvPr id="18" name="Text 15"/>
          <p:cNvSpPr/>
          <p:nvPr/>
        </p:nvSpPr>
        <p:spPr>
          <a:xfrm>
            <a:off x="2029968" y="3675888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Limpar dados, nomear responsáveis e padronizar status.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3986784" y="3044952"/>
            <a:ext cx="384048" cy="384048"/>
          </a:xfrm>
          <a:prstGeom prst="ellipse">
            <a:avLst/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86784" y="317296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648456" y="1627632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2700" dist="381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739896" y="181051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</a:t>
            </a:r>
            <a:endParaRPr lang="en-US" sz="1230" dirty="0"/>
          </a:p>
        </p:txBody>
      </p:sp>
      <p:sp>
        <p:nvSpPr>
          <p:cNvPr id="23" name="Text 20"/>
          <p:cNvSpPr/>
          <p:nvPr/>
        </p:nvSpPr>
        <p:spPr>
          <a:xfrm>
            <a:off x="3511296" y="3675888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Categorizar por grupo 1, 2, 3 e 4.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5468112" y="3044952"/>
            <a:ext cx="384048" cy="384048"/>
          </a:xfrm>
          <a:prstGeom prst="ellipse">
            <a:avLst/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68112" y="317296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129784" y="1627632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2700" dist="381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221224" y="181051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</a:t>
            </a:r>
            <a:endParaRPr lang="en-US" sz="1230" dirty="0"/>
          </a:p>
        </p:txBody>
      </p:sp>
      <p:sp>
        <p:nvSpPr>
          <p:cNvPr id="28" name="Text 25"/>
          <p:cNvSpPr/>
          <p:nvPr/>
        </p:nvSpPr>
        <p:spPr>
          <a:xfrm>
            <a:off x="4992624" y="3675888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cadências e scripts operacionais.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6949440" y="3044952"/>
            <a:ext cx="384048" cy="384048"/>
          </a:xfrm>
          <a:prstGeom prst="ellipse">
            <a:avLst/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0" y="317296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611112" y="1627632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2700" dist="381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702552" y="181051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5</a:t>
            </a:r>
            <a:endParaRPr lang="en-US" sz="1230" dirty="0"/>
          </a:p>
        </p:txBody>
      </p:sp>
      <p:sp>
        <p:nvSpPr>
          <p:cNvPr id="33" name="Text 30"/>
          <p:cNvSpPr/>
          <p:nvPr/>
        </p:nvSpPr>
        <p:spPr>
          <a:xfrm>
            <a:off x="6473952" y="3675888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a ativação dos grupos 1 e 2.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8430768" y="3044952"/>
            <a:ext cx="384048" cy="384048"/>
          </a:xfrm>
          <a:prstGeom prst="ellipse">
            <a:avLst/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30768" y="317296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8092440" y="1627632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2700" dist="381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183880" y="181051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6</a:t>
            </a:r>
            <a:endParaRPr lang="en-US" sz="1230" dirty="0"/>
          </a:p>
        </p:txBody>
      </p:sp>
      <p:sp>
        <p:nvSpPr>
          <p:cNvPr id="38" name="Text 35"/>
          <p:cNvSpPr/>
          <p:nvPr/>
        </p:nvSpPr>
        <p:spPr>
          <a:xfrm>
            <a:off x="7955280" y="3675888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em grupo 3 e clientes ativos.</a:t>
            </a:r>
            <a:endParaRPr lang="en-US" sz="960" dirty="0"/>
          </a:p>
        </p:txBody>
      </p:sp>
      <p:sp>
        <p:nvSpPr>
          <p:cNvPr id="39" name="Shape 36"/>
          <p:cNvSpPr/>
          <p:nvPr/>
        </p:nvSpPr>
        <p:spPr>
          <a:xfrm>
            <a:off x="9912096" y="3044952"/>
            <a:ext cx="384048" cy="384048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912096" y="317296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573768" y="1627632"/>
            <a:ext cx="107899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blurRad="12700" dist="381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9665208" y="181051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7</a:t>
            </a:r>
            <a:endParaRPr lang="en-US" sz="1230" dirty="0"/>
          </a:p>
        </p:txBody>
      </p:sp>
      <p:sp>
        <p:nvSpPr>
          <p:cNvPr id="43" name="Text 40"/>
          <p:cNvSpPr/>
          <p:nvPr/>
        </p:nvSpPr>
        <p:spPr>
          <a:xfrm>
            <a:off x="9436608" y="3675888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2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KPIs iniciais, objeções e ajustes de processo.</a:t>
            </a:r>
            <a:endParaRPr lang="en-US" sz="960" dirty="0"/>
          </a:p>
        </p:txBody>
      </p:sp>
      <p:sp>
        <p:nvSpPr>
          <p:cNvPr id="44" name="Text 41"/>
          <p:cNvSpPr/>
          <p:nvPr/>
        </p:nvSpPr>
        <p:spPr>
          <a:xfrm>
            <a:off x="941832" y="59893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esperada ao fim da semana: base organizada, cadência rodando, primeiras respostas entrando e objeções já mapeadas.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A"/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32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de sucesso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129844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programa está funcionando?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96112" y="2368296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2304288"/>
            <a:ext cx="4956048" cy="39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da base está organizada, categorizada e com próxima 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96112" y="2839720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775712"/>
            <a:ext cx="4956048" cy="39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antigos voltam a responder, ligar e agendar visita.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3311144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247136"/>
            <a:ext cx="4956048" cy="39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 perdidas começam a ser reabertas com método.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" y="3782568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718560"/>
            <a:ext cx="4956048" cy="39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ativos geram depoimentos e indicações recorrentes.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4253992"/>
            <a:ext cx="91440" cy="91440"/>
          </a:xfrm>
          <a:prstGeom prst="ellipse">
            <a:avLst/>
          </a:prstGeom>
          <a:solidFill>
            <a:srgbClr val="F75627"/>
          </a:solidFill>
          <a:ln w="12700">
            <a:solidFill>
              <a:srgbClr val="F756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4189984"/>
            <a:ext cx="4956048" cy="39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passa a operar com inteligência, não apenas tentativa.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1248" y="5669280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173A5F"/>
          </a:solidFill>
          <a:ln w="12700">
            <a:solidFill>
              <a:srgbClr val="3E60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5888736"/>
            <a:ext cx="4882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F75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operação comercial da ARKAN deve começar por aqui: mapear, categorizar, ativar e medir.</a:t>
            </a:r>
            <a:endParaRPr lang="en-US" sz="1280" dirty="0"/>
          </a:p>
        </p:txBody>
      </p:sp>
      <p:pic>
        <p:nvPicPr>
          <p:cNvPr id="17" name="Image 0" descr="/mnt/data/arkan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314604"/>
            <a:ext cx="3931920" cy="254883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448288" y="6327648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E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1819</Words>
  <Application>Microsoft Office PowerPoint</Application>
  <PresentationFormat>Widescreen</PresentationFormat>
  <Paragraphs>279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Treinamento — Programa de Ativação de Base ARKAN</dc:title>
  <dc:subject>Programa de Ativação de Base ARKAN</dc:subject>
  <dc:creator>OpenAI</dc:creator>
  <cp:lastModifiedBy>Rodrigo Fernandes</cp:lastModifiedBy>
  <cp:revision>3</cp:revision>
  <dcterms:created xsi:type="dcterms:W3CDTF">2026-03-18T17:24:19Z</dcterms:created>
  <dcterms:modified xsi:type="dcterms:W3CDTF">2026-03-18T17:47:09Z</dcterms:modified>
</cp:coreProperties>
</file>