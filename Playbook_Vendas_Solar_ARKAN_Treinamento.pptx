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101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KAN_MASTER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8275320" cy="5486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6711696"/>
            <a:ext cx="3916375" cy="54864"/>
          </a:xfrm>
          <a:prstGeom prst="rect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164592"/>
            <a:ext cx="3794760" cy="6327648"/>
          </a:xfrm>
          <a:prstGeom prst="rect">
            <a:avLst/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</p:sp>
      <p:pic>
        <p:nvPicPr>
          <p:cNvPr id="3" name="Image 0" descr="/mnt/data/playbook_hero.png"/>
          <p:cNvPicPr>
            <a:picLocks noChangeAspect="1"/>
          </p:cNvPicPr>
          <p:nvPr/>
        </p:nvPicPr>
        <p:blipFill>
          <a:blip r:embed="rId3"/>
          <a:srcRect t="11706" b="11706"/>
          <a:stretch/>
        </p:blipFill>
        <p:spPr>
          <a:xfrm>
            <a:off x="658368" y="731520"/>
            <a:ext cx="4892040" cy="1691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2697480"/>
            <a:ext cx="5349240" cy="2798064"/>
          </a:xfrm>
          <a:prstGeom prst="roundRect">
            <a:avLst>
              <a:gd name="adj" fmla="val 2614"/>
            </a:avLst>
          </a:prstGeom>
          <a:solidFill>
            <a:srgbClr val="07182C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29992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Playbook de Vendas Solar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41248" y="35478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Treinamento direto para Pré-vendas, Vendas e Pós-vendas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41248" y="4370832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102744"/>
          </a:solidFill>
          <a:ln w="12700">
            <a:solidFill>
              <a:srgbClr val="1027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407408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6FA"/>
                </a:solidFill>
              </a:rPr>
              <a:t>Pré-vendas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2029968" y="437083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102744"/>
          </a:solidFill>
          <a:ln w="12700">
            <a:solidFill>
              <a:srgbClr val="1027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29968" y="440740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6FA"/>
                </a:solidFill>
              </a:rPr>
              <a:t>Vendas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2944368" y="4370832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102744"/>
          </a:solidFill>
          <a:ln w="12700">
            <a:solidFill>
              <a:srgbClr val="10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44368" y="4407408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6FA"/>
                </a:solidFill>
              </a:rPr>
              <a:t>Pós-vendas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41248" y="4919472"/>
            <a:ext cx="4885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Baseado no playbook operacional da ARKAN para transformar lead frio em contrato assinado e recomendação.</a:t>
            </a:r>
            <a:endParaRPr lang="en-US" sz="1450" dirty="0"/>
          </a:p>
        </p:txBody>
      </p:sp>
      <p:pic>
        <p:nvPicPr>
          <p:cNvPr id="14" name="Image 1" descr="/mnt/data/arkan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440861"/>
            <a:ext cx="2788920" cy="27875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61120" y="544068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Treinamento interno de vendas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9933DBF-98CD-4C84-889E-5D826C976BFA}"/>
              </a:ext>
            </a:extLst>
          </p:cNvPr>
          <p:cNvSpPr/>
          <p:nvPr/>
        </p:nvSpPr>
        <p:spPr>
          <a:xfrm>
            <a:off x="658368" y="731520"/>
            <a:ext cx="182880" cy="1691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4095253-7635-4C95-993F-BA58CC970764}"/>
              </a:ext>
            </a:extLst>
          </p:cNvPr>
          <p:cNvSpPr/>
          <p:nvPr/>
        </p:nvSpPr>
        <p:spPr>
          <a:xfrm>
            <a:off x="841248" y="731520"/>
            <a:ext cx="4709160" cy="874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7" y="676656"/>
            <a:ext cx="84071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Venda consultiva: o cliente compra a transformação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playbook parte de uma mudança de mentalidade: a venda começa pela emoção e é justificada pela lógica.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155448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185623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Venda a emoção, não o painel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238201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cliente não </a:t>
            </a:r>
            <a:r>
              <a:rPr lang="en-US" sz="160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</a:t>
            </a:r>
            <a:r>
              <a:rPr lang="en-US" sz="160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“X kWp”. Ele quer paz com a conta, conforto no uso da casa e previsibilidade no orçamento.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38928" y="1536192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938528"/>
            <a:ext cx="2148840" cy="2249424"/>
          </a:xfrm>
          <a:prstGeom prst="roundRect">
            <a:avLst>
              <a:gd name="adj" fmla="val 4255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217627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Economia para a família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663440" y="2633472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3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economia</a:t>
            </a: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</a:t>
            </a: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porta. O cliente quer liberar dinheiro para a vida real: filhos, viagens e alívio no orçamento.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699248" y="153619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59168" y="1938528"/>
            <a:ext cx="2148840" cy="2249424"/>
          </a:xfrm>
          <a:prstGeom prst="roundRect">
            <a:avLst>
              <a:gd name="adj" fmla="val 4255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223760" y="217627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Conforto sem culpa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223760" y="2633472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benefício emocional é usar </a:t>
            </a:r>
            <a:r>
              <a:rPr lang="en-US" sz="13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</a:t>
            </a: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condicionado</a:t>
            </a: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3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eletrodomésticos</a:t>
            </a: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sem medo da conta no fim do mês.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259568" y="1536192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19488" y="1938528"/>
            <a:ext cx="2148840" cy="2249424"/>
          </a:xfrm>
          <a:prstGeom prst="roundRect">
            <a:avLst>
              <a:gd name="adj" fmla="val 4255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784080" y="2112264"/>
            <a:ext cx="1764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e tranquilidade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9784080" y="2633472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tarifa instável e blecautes, solar vira previsibilidade e uma espécie de “seguro energético”.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8368" y="470916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14400" y="477316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ouro para todo o treinamento</a:t>
            </a:r>
            <a:endParaRPr lang="en-US" sz="1620" dirty="0"/>
          </a:p>
        </p:txBody>
      </p:sp>
      <p:sp>
        <p:nvSpPr>
          <p:cNvPr id="25" name="Text 22"/>
          <p:cNvSpPr/>
          <p:nvPr/>
        </p:nvSpPr>
        <p:spPr>
          <a:xfrm>
            <a:off x="3858768" y="47365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o primeiro WhatsApp até o fechamento, toda conversa deve conectar conta de luz, conforto e previsibilidade a um próximo passo claro.</a:t>
            </a:r>
            <a:endParaRPr lang="en-US" sz="14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Funil ARKAN e dono de cada etapa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processo fica simples quando cada papel tem um objetivo único e um indicador claro de sucesso.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5385C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6"/>
          <p:cNvSpPr/>
          <p:nvPr/>
        </p:nvSpPr>
        <p:spPr>
          <a:xfrm>
            <a:off x="566928" y="1865376"/>
            <a:ext cx="1399032" cy="78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Novo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Lead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2020824" y="2103120"/>
            <a:ext cx="109728" cy="164592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85416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5385C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58568" y="216712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Respondeu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3648456" y="2103120"/>
            <a:ext cx="109728" cy="164592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13048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31336" y="1865377"/>
            <a:ext cx="1389888" cy="78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Chamada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Agendada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276088" y="2103120"/>
            <a:ext cx="109728" cy="164592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40680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8968" y="1865373"/>
            <a:ext cx="13898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Visita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Agendada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903720" y="2103120"/>
            <a:ext cx="109728" cy="164592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68312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86600" y="1865377"/>
            <a:ext cx="1399032" cy="7863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Proposta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Apresentada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8531352" y="2103120"/>
            <a:ext cx="109728" cy="164592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95944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14232" y="1865377"/>
            <a:ext cx="1389888" cy="7863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Negociação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10158984" y="2103120"/>
            <a:ext cx="109728" cy="164592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23576" y="1865376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23576" y="1865373"/>
            <a:ext cx="1417320" cy="79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Vendido /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6FA"/>
                </a:solidFill>
              </a:rPr>
              <a:t>Pós-venda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749808" y="3182112"/>
            <a:ext cx="2560320" cy="1353312"/>
          </a:xfrm>
          <a:prstGeom prst="roundRect">
            <a:avLst>
              <a:gd name="adj" fmla="val 6757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50976" y="345643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Pré-vendas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950976" y="373075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IA: responder em segundos e levar para ligação.
</a:t>
            </a:r>
            <a:r>
              <a:rPr lang="en-US" sz="13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IA/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SDR: qualificar em BANT e vender a visita.</a:t>
            </a:r>
            <a:endParaRPr lang="en-US" sz="1320" dirty="0"/>
          </a:p>
        </p:txBody>
      </p:sp>
      <p:sp>
        <p:nvSpPr>
          <p:cNvPr id="32" name="Shape 29"/>
          <p:cNvSpPr/>
          <p:nvPr/>
        </p:nvSpPr>
        <p:spPr>
          <a:xfrm>
            <a:off x="3602736" y="3182112"/>
            <a:ext cx="4572000" cy="1353312"/>
          </a:xfrm>
          <a:prstGeom prst="roundRect">
            <a:avLst>
              <a:gd name="adj" fmla="val 6757"/>
            </a:avLst>
          </a:prstGeom>
          <a:solidFill>
            <a:srgbClr val="0B2038"/>
          </a:solidFill>
          <a:ln w="12700">
            <a:solidFill>
              <a:srgbClr val="4E78AE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803904" y="34564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3803904" y="3730752"/>
            <a:ext cx="4224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b="1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Vendedor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apresenta a proposta no local e tenta fechar na visita.
</a:t>
            </a:r>
            <a:r>
              <a:rPr lang="en-US" sz="132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não fechar, entra follow-up de valor para </a:t>
            </a:r>
            <a:r>
              <a:rPr lang="en-US" sz="13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negociação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até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13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20" dirty="0"/>
          </a:p>
        </p:txBody>
      </p:sp>
      <p:sp>
        <p:nvSpPr>
          <p:cNvPr id="35" name="Shape 32"/>
          <p:cNvSpPr/>
          <p:nvPr/>
        </p:nvSpPr>
        <p:spPr>
          <a:xfrm>
            <a:off x="8449056" y="3182112"/>
            <a:ext cx="3273552" cy="1353312"/>
          </a:xfrm>
          <a:prstGeom prst="roundRect">
            <a:avLst>
              <a:gd name="adj" fmla="val 6757"/>
            </a:avLst>
          </a:prstGeom>
          <a:solidFill>
            <a:srgbClr val="0B2038"/>
          </a:solidFill>
          <a:ln w="12700">
            <a:solidFill>
              <a:srgbClr val="6FD38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650224" y="34564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Pós-vendas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8650224" y="373075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 operação, coleta avaliação em 90 dias e abre recomendação com comissão.</a:t>
            </a:r>
            <a:endParaRPr lang="en-US" sz="1320" dirty="0"/>
          </a:p>
        </p:txBody>
      </p:sp>
      <p:sp>
        <p:nvSpPr>
          <p:cNvPr id="38" name="Shape 35"/>
          <p:cNvSpPr/>
          <p:nvPr/>
        </p:nvSpPr>
        <p:spPr>
          <a:xfrm>
            <a:off x="914400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14400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627"/>
                </a:solidFill>
              </a:rPr>
              <a:t>60%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60120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Resposta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130552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30552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627"/>
                </a:solidFill>
              </a:rPr>
              <a:t>40%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2176272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Agend. ligação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346704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4E78A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46704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78AE"/>
                </a:solidFill>
              </a:rPr>
              <a:t>50%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3392424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Visita agendada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562856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4E78A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62856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78AE"/>
                </a:solidFill>
              </a:rPr>
              <a:t>30%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4608576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Fecha na visita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79008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79008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627"/>
                </a:solidFill>
              </a:rPr>
              <a:t>70%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5824728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Negociação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995160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995160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627"/>
                </a:solidFill>
              </a:rPr>
              <a:t>1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7040880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Avaliação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8211312" y="4983480"/>
            <a:ext cx="1078992" cy="566928"/>
          </a:xfrm>
          <a:prstGeom prst="roundRect">
            <a:avLst>
              <a:gd name="adj" fmla="val 11290"/>
            </a:avLst>
          </a:prstGeom>
          <a:solidFill>
            <a:srgbClr val="0B2038"/>
          </a:solidFill>
          <a:ln w="12700">
            <a:solidFill>
              <a:srgbClr val="6FD38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11312" y="50566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D38F"/>
                </a:solidFill>
              </a:rPr>
              <a:t>1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8257032" y="5276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2C9"/>
                </a:solidFill>
              </a:rPr>
              <a:t>Indicação</a:t>
            </a:r>
            <a:endParaRPr lang="en-US" sz="95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Pré-vendas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Pré-vendas 1: engajamento imediato no Novo Lead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Velocidade vence esta etapa. O papel da IA é simples: responder rápido, pegar um dado-chave e agendar a ligação com o humano.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8745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0D2C4B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" y="1975104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0704" y="19933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Responder em segundos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731520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“Vi que você se cadastrou para reduzir sua conta de luz, correto?”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2450592" y="248716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15768" y="18745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25496" y="1975104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9544" y="19933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Coletar 1 dado-chave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2880360" y="2395728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o valor médio da conta para estimar potencial de economia.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599432" y="248716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64608" y="18745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74336" y="1975104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58384" y="19933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Validar oportunidade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5029200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“Com uma conta de R$X, seu potencial de economia é excelente.”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748272" y="248716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13448" y="18745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23176" y="1975104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7224" y="19933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Fechar horário</a:t>
            </a:r>
            <a:endParaRPr lang="en-US" sz="1520" dirty="0"/>
          </a:p>
        </p:txBody>
      </p:sp>
      <p:sp>
        <p:nvSpPr>
          <p:cNvPr id="26" name="Text 23"/>
          <p:cNvSpPr/>
          <p:nvPr/>
        </p:nvSpPr>
        <p:spPr>
          <a:xfrm>
            <a:off x="7178040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Sempre oferecer 2 opções de horário para a ligação ainda hoje.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822960" y="3931920"/>
            <a:ext cx="5532120" cy="1536192"/>
          </a:xfrm>
          <a:prstGeom prst="roundRect">
            <a:avLst>
              <a:gd name="adj" fmla="val 5952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60704" y="4187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Script-base do agente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060704" y="45262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“Olá [Nome], aqui é o assistente da [Empresa]. Vi seu cadastro para reduzir a conta de luz. Para eu te dar uma estimativa gratuita, qual é o valor médio da sua conta? ... Qual horário você prefere para uma ligação de 5 minutos: [X] ou [Y]?”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6656832" y="3931920"/>
            <a:ext cx="4791456" cy="1536192"/>
          </a:xfrm>
          <a:prstGeom prst="roundRect">
            <a:avLst>
              <a:gd name="adj" fmla="val 5952"/>
            </a:avLst>
          </a:prstGeom>
          <a:solidFill>
            <a:srgbClr val="0D2C4B"/>
          </a:solidFill>
          <a:ln w="12700">
            <a:solidFill>
              <a:srgbClr val="4E78AE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912864" y="4187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da etapa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912864" y="45262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o lead para Chamada Agendada o mais rápido possível. A IA ganha a atenção; o SDR ganha a confiança.</a:t>
            </a:r>
            <a:endParaRPr lang="en-US" sz="15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Pré-vendas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Pré-vendas 2: ligação SDR que vende a visita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call não existe para vender o sistema. Ela existe para qualificar com BANT, gerar confiança e agendar a visita técnica com todos os decisores.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47088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42416" y="21214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2416" y="2468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Sorrir ao telefone
</a:t>
            </a:r>
            <a:r>
              <a:rPr lang="en-US" sz="12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o nome do cliente
</a:t>
            </a:r>
            <a:r>
              <a:rPr lang="en-US" sz="12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Espelhar tom e ritmo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3127248" y="1847088"/>
            <a:ext cx="1828800" cy="1353312"/>
          </a:xfrm>
          <a:prstGeom prst="roundRect">
            <a:avLst>
              <a:gd name="adj" fmla="val 6757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55264" y="1993392"/>
            <a:ext cx="329184" cy="329184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55264" y="2052828"/>
            <a:ext cx="3291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0" y="19933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91840" y="239572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 parcela for igual ou menor que a conta, isso faz sentido?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212080" y="1847088"/>
            <a:ext cx="1828800" cy="1353312"/>
          </a:xfrm>
          <a:prstGeom prst="roundRect">
            <a:avLst>
              <a:gd name="adj" fmla="val 6757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40096" y="1993392"/>
            <a:ext cx="329184" cy="329184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0247" y="2059686"/>
            <a:ext cx="3657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42432" y="19933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76672" y="239572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participa da decisão? O cônjuge estará na visita?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296912" y="1847088"/>
            <a:ext cx="1828800" cy="1353312"/>
          </a:xfrm>
          <a:prstGeom prst="roundRect">
            <a:avLst>
              <a:gd name="adj" fmla="val 6757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24928" y="1993392"/>
            <a:ext cx="329184" cy="329184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24928" y="20528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27264" y="19933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61504" y="239572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Além do valor alto, o que mais incomoda hoje?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9381744" y="1847088"/>
            <a:ext cx="1828800" cy="1353312"/>
          </a:xfrm>
          <a:prstGeom prst="roundRect">
            <a:avLst>
              <a:gd name="adj" fmla="val 6757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509760" y="1993392"/>
            <a:ext cx="329184" cy="329184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09760" y="20528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12096" y="19933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546336" y="239572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você quer ver sua primeira conta com economia?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822960" y="3822192"/>
            <a:ext cx="4206240" cy="1481328"/>
          </a:xfrm>
          <a:prstGeom prst="roundRect">
            <a:avLst>
              <a:gd name="adj" fmla="val 6173"/>
            </a:avLst>
          </a:prstGeom>
          <a:solidFill>
            <a:srgbClr val="0D2C4B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60704" y="40782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 recomendada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60704" y="4425696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“Meu objetivo aqui é bem rápido: entender se conseguimos te ajudar a zerar essa conta e, se sim, agendar uma visita técnica gratuita.”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285232" y="3822192"/>
            <a:ext cx="6163056" cy="1481328"/>
          </a:xfrm>
          <a:prstGeom prst="roundRect">
            <a:avLst>
              <a:gd name="adj" fmla="val 6173"/>
            </a:avLst>
          </a:prstGeom>
          <a:solidFill>
            <a:srgbClr val="0B2038"/>
          </a:solidFill>
          <a:ln w="12700">
            <a:solidFill>
              <a:srgbClr val="4E78AE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559552" y="40782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 da visita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559552" y="4425696"/>
            <a:ext cx="5358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Sempre feche com alternativas: “Nosso especialista estará na sua região. O que funciona melhor para vocês: terça às 18h ou quarta às 19h?”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Vendas 1: a visita técnica é o palco do fechamento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closer precisa executar dois checklists ao mesmo tempo: o técnico e o comercial. A visita não é inspeção pura; ela é investigação para fechar.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828800"/>
            <a:ext cx="3703320" cy="3401568"/>
          </a:xfrm>
          <a:prstGeom prst="roundRect">
            <a:avLst>
              <a:gd name="adj" fmla="val 2688"/>
            </a:avLst>
          </a:prstGeom>
          <a:solidFill>
            <a:srgbClr val="102744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60704" y="20848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técnico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60704" y="246888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dados cadastrais e contato.
</a:t>
            </a:r>
            <a:r>
              <a:rPr lang="en-US" sz="13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Levantar padrão elétrico, tensão, aterramento e local do inversor.
</a:t>
            </a:r>
            <a:r>
              <a:rPr lang="en-US" sz="13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 telhado, estrutura, orientação, inclinação e sombras.
</a:t>
            </a:r>
            <a:r>
              <a:rPr lang="en-US" sz="13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fotos do telhado, padrão, inversor e caminhos de tubulação.</a:t>
            </a:r>
            <a:endParaRPr lang="en-US" sz="1380" dirty="0"/>
          </a:p>
        </p:txBody>
      </p:sp>
      <p:sp>
        <p:nvSpPr>
          <p:cNvPr id="11" name="Shape 8"/>
          <p:cNvSpPr/>
          <p:nvPr/>
        </p:nvSpPr>
        <p:spPr>
          <a:xfrm>
            <a:off x="4736592" y="1828800"/>
            <a:ext cx="3703320" cy="3401568"/>
          </a:xfrm>
          <a:prstGeom prst="roundRect">
            <a:avLst>
              <a:gd name="adj" fmla="val 2688"/>
            </a:avLst>
          </a:prstGeom>
          <a:solidFill>
            <a:srgbClr val="102744"/>
          </a:solidFill>
          <a:ln w="12700">
            <a:solidFill>
              <a:srgbClr val="4E78AE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0848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comercial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992624" y="246888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Garantir todos os decisores na sala.
</a:t>
            </a:r>
            <a:r>
              <a:rPr lang="en-US" sz="138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Começar com situação e rapport.
</a:t>
            </a:r>
            <a:r>
              <a:rPr lang="en-US" sz="138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Aprofundar problema e custo da inação.
</a:t>
            </a:r>
            <a:r>
              <a:rPr lang="en-US" sz="138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Fazer o cliente pedir a solução antes da proposta.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8686800" y="1828800"/>
            <a:ext cx="2743200" cy="3401568"/>
          </a:xfrm>
          <a:prstGeom prst="roundRect">
            <a:avLst>
              <a:gd name="adj" fmla="val 3333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924544" y="20848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 na visita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961120" y="2578608"/>
            <a:ext cx="2139696" cy="384048"/>
          </a:xfrm>
          <a:prstGeom prst="roundRect">
            <a:avLst>
              <a:gd name="adj" fmla="val 16667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26883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6FA"/>
                </a:solidFill>
              </a:rPr>
              <a:t>Situação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61120" y="3163824"/>
            <a:ext cx="2139696" cy="384048"/>
          </a:xfrm>
          <a:prstGeom prst="roundRect">
            <a:avLst>
              <a:gd name="adj" fmla="val 16667"/>
            </a:avLst>
          </a:prstGeom>
          <a:solidFill>
            <a:srgbClr val="0D2C4B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3273552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6FA"/>
                </a:solidFill>
              </a:rPr>
              <a:t>Problema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61120" y="3749040"/>
            <a:ext cx="2139696" cy="384048"/>
          </a:xfrm>
          <a:prstGeom prst="roundRect">
            <a:avLst>
              <a:gd name="adj" fmla="val 16667"/>
            </a:avLst>
          </a:prstGeom>
          <a:solidFill>
            <a:srgbClr val="102744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0" y="385876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6FA"/>
                </a:solidFill>
              </a:rPr>
              <a:t>Implicação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961120" y="4334256"/>
            <a:ext cx="2139696" cy="384048"/>
          </a:xfrm>
          <a:prstGeom prst="roundRect">
            <a:avLst>
              <a:gd name="adj" fmla="val 16667"/>
            </a:avLst>
          </a:prstGeom>
          <a:solidFill>
            <a:srgbClr val="0D2C4B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0" y="4443984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6FA"/>
                </a:solidFill>
              </a:rPr>
              <a:t>Need-payoff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128405" y="58064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prática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3128405" y="5925312"/>
            <a:ext cx="8713075" cy="6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subir no telhado sem antes construir conexão e confirmar a dor real.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944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Vendas 2: apresentar a proposta e pedir a venda na própria visita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closer não vai embora para “preparar proposta”. Ele ancora no problema atual, apresenta a troca financeira e pede a decisão no local.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1874520"/>
            <a:ext cx="3337560" cy="969264"/>
          </a:xfrm>
          <a:prstGeom prst="roundRect">
            <a:avLst>
              <a:gd name="adj" fmla="val 9434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4128" y="202082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Ancorar no problema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1024128" y="22768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Hoje existe um “aluguel” mensal para a concessionária.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4544568" y="1874520"/>
            <a:ext cx="3337560" cy="969264"/>
          </a:xfrm>
          <a:prstGeom prst="roundRect">
            <a:avLst>
              <a:gd name="adj" fmla="val 9434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27447" y="2020824"/>
            <a:ext cx="18679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Trocar despesa por investimento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27448" y="22768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muda o dinheiro de lugar: sai da conta, entra no ativo.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8247888" y="1874520"/>
            <a:ext cx="3337560" cy="969264"/>
          </a:xfrm>
          <a:prstGeom prst="roundRect">
            <a:avLst>
              <a:gd name="adj" fmla="val 9434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30768" y="202082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Apresentar a parcela primeiro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8430768" y="22768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Financiamento deve aparecer como parcela igual ou menor que a conta.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841248" y="3675888"/>
            <a:ext cx="3337560" cy="969264"/>
          </a:xfrm>
          <a:prstGeom prst="roundRect">
            <a:avLst>
              <a:gd name="adj" fmla="val 9434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24127" y="3822192"/>
            <a:ext cx="19233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Só depois abrir o valor total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1024128" y="40782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total entra depois que o valor da solução já foi entendido.</a:t>
            </a:r>
            <a:endParaRPr lang="en-US" sz="1230" dirty="0"/>
          </a:p>
        </p:txBody>
      </p:sp>
      <p:sp>
        <p:nvSpPr>
          <p:cNvPr id="20" name="Shape 17"/>
          <p:cNvSpPr/>
          <p:nvPr/>
        </p:nvSpPr>
        <p:spPr>
          <a:xfrm>
            <a:off x="4544568" y="3675888"/>
            <a:ext cx="3337560" cy="969264"/>
          </a:xfrm>
          <a:prstGeom prst="roundRect">
            <a:avLst>
              <a:gd name="adj" fmla="val 9434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27448" y="382219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Criar urgência real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4727448" y="40782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Taxa promocional, agenda limitada e prova social local.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8247888" y="3675888"/>
            <a:ext cx="3337560" cy="969264"/>
          </a:xfrm>
          <a:prstGeom prst="roundRect">
            <a:avLst>
              <a:gd name="adj" fmla="val 9434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430768" y="382219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Pedir a venda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8430768" y="40782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 ou fechamento assumido: “à vista ou financiado?”</a:t>
            </a:r>
            <a:endParaRPr lang="en-US" sz="12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Vendas 3: follow-up de valor e quebra de objeções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lead não fechou na visita, a operação entra em cadência. Cada contato precisa agregar valor, e não apenas perguntar “decidiu?”.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2148840"/>
            <a:ext cx="640080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1874520"/>
            <a:ext cx="384048" cy="384048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239572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6FA"/>
                </a:solidFill>
              </a:rPr>
              <a:t>D+1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57784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Retomar contexto e abrir dúvida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2880360" y="1874520"/>
            <a:ext cx="384048" cy="384048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07208" y="239572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6FA"/>
                </a:solidFill>
              </a:rPr>
              <a:t>D+3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478024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Levar prova social / caso parecido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4800600" y="1874520"/>
            <a:ext cx="384048" cy="384048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7448" y="239572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6FA"/>
                </a:solidFill>
              </a:rPr>
              <a:t>D+5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398264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Ligação com urgência real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720840" y="1874520"/>
            <a:ext cx="384048" cy="384048"/>
          </a:xfrm>
          <a:prstGeom prst="ellipse">
            <a:avLst/>
          </a:prstGeom>
          <a:solidFill>
            <a:srgbClr val="FF7F7F"/>
          </a:solidFill>
          <a:ln w="12700">
            <a:solidFill>
              <a:srgbClr val="FF7F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47688" y="239572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6FA"/>
                </a:solidFill>
              </a:rPr>
              <a:t>D+7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18504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Breakup que força resposta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7818120" y="1783080"/>
            <a:ext cx="3611880" cy="1572768"/>
          </a:xfrm>
          <a:prstGeom prst="roundRect">
            <a:avLst>
              <a:gd name="adj" fmla="val 5814"/>
            </a:avLst>
          </a:prstGeom>
          <a:solidFill>
            <a:srgbClr val="0B2038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92440" y="20391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No-show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092440" y="23774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imediata: “Imagino que tenha surgido um imprevisto. Ajudar você a economizar R$X ainda é prioridade? Qual o melhor horário para reagendarmos hoje?”</a:t>
            </a:r>
            <a:endParaRPr lang="en-US" sz="1420" dirty="0"/>
          </a:p>
        </p:txBody>
      </p:sp>
      <p:sp>
        <p:nvSpPr>
          <p:cNvPr id="24" name="Shape 21"/>
          <p:cNvSpPr/>
          <p:nvPr/>
        </p:nvSpPr>
        <p:spPr>
          <a:xfrm>
            <a:off x="822960" y="3822192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24128" y="40690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“Está caro”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24128" y="44074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Reancorar: caro comparado a quê? Compare com a conta vitalícia e volte ao financiamento.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3657600" y="3822192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858768" y="4069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“Vou pensar”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858768" y="44074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Isolar a objeção real: preço, confiança, solução técnica ou outra pessoa na decisão?</a:t>
            </a:r>
            <a:endParaRPr lang="en-US" sz="1340" dirty="0"/>
          </a:p>
        </p:txBody>
      </p:sp>
      <p:sp>
        <p:nvSpPr>
          <p:cNvPr id="30" name="Shape 27"/>
          <p:cNvSpPr/>
          <p:nvPr/>
        </p:nvSpPr>
        <p:spPr>
          <a:xfrm>
            <a:off x="6492240" y="3822192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693408" y="40690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“Financiamento?”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693408" y="44074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como troca de uma dívida infinita por um ativo que tem fim e fica com o cliente.</a:t>
            </a:r>
            <a:endParaRPr lang="en-US" sz="1340" dirty="0"/>
          </a:p>
        </p:txBody>
      </p:sp>
      <p:sp>
        <p:nvSpPr>
          <p:cNvPr id="33" name="Shape 30"/>
          <p:cNvSpPr/>
          <p:nvPr/>
        </p:nvSpPr>
        <p:spPr>
          <a:xfrm>
            <a:off x="9326880" y="3822192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528048" y="40690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“Meu cônjuge”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528048" y="44074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de autoridade. Reagendar rápido com todos na conversa.</a:t>
            </a:r>
            <a:endParaRPr lang="en-US" sz="134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Pós-vendas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Pós-vendas: satisfação, avaliação e indicação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operação não termina em Vendido. O lucro mais barato vem da prova social e da recomendação feita no pico de satisfação.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1874520"/>
            <a:ext cx="1627632" cy="1700784"/>
          </a:xfrm>
          <a:prstGeom prst="roundRect">
            <a:avLst>
              <a:gd name="adj" fmla="val 5618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81328" y="1938528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Venda concluída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1042416" y="26974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Ativar operação e confirmar experiência inicial.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51760" y="257860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1874520"/>
            <a:ext cx="1627632" cy="1700784"/>
          </a:xfrm>
          <a:prstGeom prst="roundRect">
            <a:avLst>
              <a:gd name="adj" fmla="val 5618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84448" y="1938528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45536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Aguardar maturação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3145536" y="26974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tempo para a economia aparecer na prática.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54880" y="257860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0" y="1874520"/>
            <a:ext cx="1627632" cy="1700784"/>
          </a:xfrm>
          <a:prstGeom prst="roundRect">
            <a:avLst>
              <a:gd name="adj" fmla="val 5618"/>
            </a:avLst>
          </a:prstGeom>
          <a:solidFill>
            <a:srgbClr val="102744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87568" y="1938528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48656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Contato em 90 dias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5248656" y="26974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surgindo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contato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automação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manualmente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58000" y="257860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23760" y="1874520"/>
            <a:ext cx="1627632" cy="1700784"/>
          </a:xfrm>
          <a:prstGeom prst="roundRect">
            <a:avLst>
              <a:gd name="adj" fmla="val 5618"/>
            </a:avLst>
          </a:prstGeom>
          <a:solidFill>
            <a:srgbClr val="0D2C4B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90688" y="1938528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51776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Pedir avaliação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7351776" y="26974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do Google Meu Negócio + pedido pessoal.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961120" y="2578608"/>
            <a:ext cx="164592" cy="201168"/>
          </a:xfrm>
          <a:prstGeom prst="chevron">
            <a:avLst/>
          </a:prstGeom>
          <a:solidFill>
            <a:srgbClr val="234A73"/>
          </a:solidFill>
          <a:ln w="12700">
            <a:solidFill>
              <a:srgbClr val="234A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26880" y="1874520"/>
            <a:ext cx="1627632" cy="1700784"/>
          </a:xfrm>
          <a:prstGeom prst="roundRect">
            <a:avLst>
              <a:gd name="adj" fmla="val 5618"/>
            </a:avLst>
          </a:prstGeom>
          <a:solidFill>
            <a:srgbClr val="102744"/>
          </a:solidFill>
          <a:ln w="12700">
            <a:solidFill>
              <a:srgbClr val="6FD38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893808" y="1938528"/>
            <a:ext cx="310896" cy="310896"/>
          </a:xfrm>
          <a:prstGeom prst="ellipse">
            <a:avLst/>
          </a:prstGeom>
          <a:solidFill>
            <a:srgbClr val="6FD38F"/>
          </a:solidFill>
          <a:ln w="12700">
            <a:solidFill>
              <a:srgbClr val="6FD3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54896" y="23591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Abrir indicação</a:t>
            </a:r>
            <a:endParaRPr lang="en-US" sz="1440" dirty="0"/>
          </a:p>
        </p:txBody>
      </p:sp>
      <p:sp>
        <p:nvSpPr>
          <p:cNvPr id="31" name="Text 28"/>
          <p:cNvSpPr/>
          <p:nvPr/>
        </p:nvSpPr>
        <p:spPr>
          <a:xfrm>
            <a:off x="9454896" y="26974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Ativar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comissão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3%  para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indica 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32688" y="4096512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0B2038"/>
          </a:solidFill>
          <a:ln w="12700">
            <a:solidFill>
              <a:srgbClr val="234A73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170432" y="43434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de avaliação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170432" y="46817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“Fico muito feliz em ouvir isso. Você poderia me ajudar pessoalmente deixando uma avaliação rápida sobre como foi meu atendimento? É rapidinho e ajuda outras famílias a economizar também.”</a:t>
            </a:r>
            <a:endParaRPr lang="en-US" sz="1420" dirty="0"/>
          </a:p>
        </p:txBody>
      </p:sp>
      <p:sp>
        <p:nvSpPr>
          <p:cNvPr id="35" name="Shape 32"/>
          <p:cNvSpPr/>
          <p:nvPr/>
        </p:nvSpPr>
        <p:spPr>
          <a:xfrm>
            <a:off x="6236208" y="4096512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0D2C4B"/>
          </a:solidFill>
          <a:ln w="12700">
            <a:solidFill>
              <a:srgbClr val="6FD38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473952" y="43434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de indicação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473952" y="46817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“Quero ativar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comissão. Quem são as duas primeiras pessoas do seu trabalho, família ou amigos que também reclamam da conta de luz?”</a:t>
            </a:r>
            <a:endParaRPr lang="en-US" sz="14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55811"/>
            <a:ext cx="1170432" cy="3101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1078992" cy="237744"/>
          </a:xfrm>
          <a:prstGeom prst="roundRect">
            <a:avLst>
              <a:gd name="adj" fmla="val 30769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final por área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15214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como referência operacional no treinamento: cada etapa tem um único objetivo e uma única decisão a perseguir.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8321040" cy="0"/>
          </a:xfrm>
          <a:prstGeom prst="line">
            <a:avLst/>
          </a:prstGeom>
          <a:noFill/>
          <a:ln w="12700">
            <a:solidFill>
              <a:srgbClr val="234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288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02744"/>
          </a:solidFill>
          <a:ln w="12700">
            <a:solidFill>
              <a:srgbClr val="F85627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78992" y="21031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Pré-vendas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78992" y="2487168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rápido.
</a:t>
            </a:r>
            <a:r>
              <a:rPr lang="en-US" sz="144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conta média.
</a:t>
            </a:r>
            <a:r>
              <a:rPr lang="en-US" sz="144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Agendar ligação com 2 opções de horário.
</a:t>
            </a:r>
            <a:r>
              <a:rPr lang="en-US" sz="144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Fazer BANT sem interrogatório.
</a:t>
            </a:r>
            <a:r>
              <a:rPr lang="en-US" sz="144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Vender a visita, não o sistema.
</a:t>
            </a:r>
            <a:r>
              <a:rPr lang="en-US" sz="144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Garantir todos os decisores na visita.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02744"/>
          </a:solidFill>
          <a:ln w="12700">
            <a:solidFill>
              <a:srgbClr val="4E78AE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45152" y="21031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645152" y="2487168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Executar checklist técnico.
</a:t>
            </a:r>
            <a:r>
              <a:rPr lang="en-US" sz="144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com SPIN.
</a:t>
            </a:r>
            <a:r>
              <a:rPr lang="en-US" sz="144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Ancorar no custo atual da energia.
</a:t>
            </a:r>
            <a:r>
              <a:rPr lang="en-US" sz="144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Apresentar a parcela antes do total.
</a:t>
            </a:r>
            <a:r>
              <a:rPr lang="en-US" sz="144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urgência legítima.
</a:t>
            </a:r>
            <a:r>
              <a:rPr lang="en-US" sz="1440" b="1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a venda antes de sair da visita.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7955280" y="18288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02744"/>
          </a:solidFill>
          <a:ln w="12700">
            <a:solidFill>
              <a:srgbClr val="6FD38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11312" y="21031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Pós-vendas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211312" y="2487168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experiência após venda.
</a:t>
            </a:r>
            <a:r>
              <a:rPr lang="en-US" sz="144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Reaparecer no momento certo.
</a:t>
            </a:r>
            <a:r>
              <a:rPr lang="en-US" sz="144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avaliação por mensagem pessoal.
</a:t>
            </a:r>
            <a:r>
              <a:rPr lang="en-US" sz="144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satisfação em indicação.
</a:t>
            </a:r>
            <a:r>
              <a:rPr lang="en-US" sz="144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Ativar comissão de 5% com clareza.
</a:t>
            </a:r>
            <a:r>
              <a:rPr lang="en-US" sz="1440" b="1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Fechar o ciclo com prova social.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822960" y="6181344"/>
            <a:ext cx="10561320" cy="310896"/>
          </a:xfrm>
          <a:prstGeom prst="roundRect">
            <a:avLst>
              <a:gd name="adj" fmla="val 29412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628192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0" y="625449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Treinar bem significa padronizar a conversa certa em cada etapa.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137160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A7B2C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1557</Words>
  <Application>Microsoft Office PowerPoint</Application>
  <PresentationFormat>Widescreen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ARKAN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Playbook de Vendas Solar - Treinamento para Pré-vendas, Vendas e Pós-vendas</dc:title>
  <dc:subject>Playbook de Vendas Solar - Treinamento</dc:subject>
  <dc:creator>OpenAI</dc:creator>
  <cp:lastModifiedBy>Rodrigo Fernandes</cp:lastModifiedBy>
  <cp:revision>4</cp:revision>
  <dcterms:created xsi:type="dcterms:W3CDTF">2026-03-18T19:10:55Z</dcterms:created>
  <dcterms:modified xsi:type="dcterms:W3CDTF">2026-03-18T19:34:39Z</dcterms:modified>
</cp:coreProperties>
</file>